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Manager is a local desktop and browser app for Jira-heavy work. Built for one person's daily workflow, now ready to hand to the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cost today is not any single tool. It is the shuffle between them, repeated every day. Spreadsheet trackers and per-issue notes both mean retyping the same information by hand — and that manual re-entry is where the status update comes from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tabs, one app. Task Management is the daily driver; Metrics is the project view; Project Managers is capacity. Jira credentials stay in a local .env read only by the local proxy.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flow to remember. Run JQL loads fresh results, you edit status and assignee in place, notes and priority save to the local database, checked notes push to Jira as comments, and the report is generated from the work already loaded. Long-running steps continue if you switch tabs.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screen, project and contributor names redacted. Note the per-query metrics header, the load status line, and the per-row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layer Jira does not give you: a private working note per issue, your own ranking independent of Jira priority, and a one-click path from that note to a Jira comment so the team sees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spreadsheet replacement. Teams that kept a shared Excel ranking can link a Task Management slot to a shared program, so priority reads and writes the team store and rows show a Team badge. PMs who still keep the NORA sheet can import it as 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Issue keeps ODI structure correct: Story and Bug hang off an Epic, Task off a Story. AI Draft writes the description and, for Stories, suggests two to five sub-tasks as editable checkboxes. Everything stays editable before Create.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Metrics is the project-level view. Select epic and JQL presets, refresh, and the snapshot is stored locally so the page still loads when Jira is slow. Every issue key and assignee name links back into Task Management with filters applied.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status update stops being a writing task. Pick one project tab or View All, then an audience — Executive Summary, Project Manager Summary, Developer Report, or Ad-hoc team report — on Metrics; three report types on Task Management; and a weekly digest that needs no LLM at all. Every generated report is archived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Capacity planning. Each tracked entry shows open count against an optional capacity target, plus overdue, blocked, and stale signals. Export as .md or .csv, or save the view to Past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supporting tabs. Past Reports is the local archive — Work Week, Dashboard, Ad-hoc, and CoWork files. Chat answers Jira questions using the presets, the last JQL run, the latest snapshot, and the reports already generated in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value slide. Same four jobs, before and after. The point is not that any one step is faster — it is that they all happen in one place, from data already loaded.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is short: install or run, put credentials in the local .env, Test Jira Connection, then add epic and JQL presets. One person can export a team pack so nobody else builds presets from scratch. Credentials and local data never leave the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approve rollout to the wider team, and tell us what is missing. Named pilot users, a canonical preset pack, and the shared-priority target are the three open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0C93D9">
                  <a:alpha val="100000"/>
                </a:srgbClr>
              </a:gs>
              <a:gs pos="52000">
                <a:srgbClr val="076EA4">
                  <a:alpha val="100000"/>
                </a:srgbClr>
              </a:gs>
              <a:gs pos="100000">
                <a:srgbClr val="0F3133">
                  <a:alpha val="100000"/>
                </a:srgbClr>
              </a:gs>
            </a:gsLst>
            <a:lin ang="2700000" scaled="0"/>
          </a:gradFill>
          <a:ln/>
        </p:spPr>
      </p:sp>
      <p:sp>
        <p:nvSpPr>
          <p:cNvPr id="3" name="Shape 1"/>
          <p:cNvSpPr/>
          <p:nvPr/>
        </p:nvSpPr>
        <p:spPr>
          <a:xfrm>
            <a:off x="952500" y="1057275"/>
            <a:ext cx="133350" cy="133350"/>
          </a:xfrm>
          <a:prstGeom prst="rect">
            <a:avLst/>
          </a:prstGeom>
          <a:solidFill>
            <a:srgbClr val="FDD219"/>
          </a:solidFill>
          <a:ln/>
        </p:spPr>
      </p:sp>
      <p:sp>
        <p:nvSpPr>
          <p:cNvPr id="4" name="Text 2"/>
          <p:cNvSpPr/>
          <p:nvPr/>
        </p:nvSpPr>
        <p:spPr>
          <a:xfrm>
            <a:off x="1257300" y="952500"/>
            <a:ext cx="4266634" cy="381000"/>
          </a:xfrm>
          <a:prstGeom prst="rect">
            <a:avLst/>
          </a:prstGeom>
          <a:noFill/>
          <a:ln/>
        </p:spPr>
        <p:txBody>
          <a:bodyPr wrap="square" lIns="25400" tIns="25400" rIns="25400" bIns="25400" rtlCol="0" anchor="t">
            <a:normAutofit/>
          </a:bodyPr>
          <a:lstStyle/>
          <a:p>
            <a:pPr algn="l" indent="0" marL="0">
              <a:buNone/>
            </a:pPr>
            <a:r>
              <a:rPr lang="en-US" sz="2100" b="1" spc="294" kern="0" dirty="0">
                <a:solidFill>
                  <a:srgbClr val="FFFFFF">
                    <a:alpha val="72000"/>
                  </a:srgbClr>
                </a:solidFill>
                <a:latin typeface="IBM Plex Sans" pitchFamily="34" charset="0"/>
                <a:ea typeface="IBM Plex Sans" pitchFamily="34" charset="-122"/>
                <a:cs typeface="IBM Plex Sans" pitchFamily="34" charset="-120"/>
              </a:rPr>
              <a:t>INTERNAL TOOL REVIEW</a:t>
            </a:r>
            <a:endParaRPr lang="en-US" sz="2100" dirty="0"/>
          </a:p>
        </p:txBody>
      </p:sp>
      <p:sp>
        <p:nvSpPr>
          <p:cNvPr id="5" name="Text 3"/>
          <p:cNvSpPr/>
          <p:nvPr/>
        </p:nvSpPr>
        <p:spPr>
          <a:xfrm>
            <a:off x="952500" y="3912915"/>
            <a:ext cx="14668500" cy="1295400"/>
          </a:xfrm>
          <a:prstGeom prst="rect">
            <a:avLst/>
          </a:prstGeom>
          <a:noFill/>
          <a:ln/>
        </p:spPr>
        <p:txBody>
          <a:bodyPr wrap="square" lIns="25400" tIns="25400" rIns="25400" bIns="25400" rtlCol="0" anchor="t">
            <a:normAutofit/>
          </a:bodyPr>
          <a:lstStyle/>
          <a:p>
            <a:pPr algn="l" indent="0" marL="0">
              <a:lnSpc>
                <a:spcPct val="76744"/>
              </a:lnSpc>
              <a:buNone/>
            </a:pPr>
            <a:r>
              <a:rPr lang="en-US" sz="9900" b="1" spc="-297" kern="0" dirty="0">
                <a:solidFill>
                  <a:srgbClr val="FFFFFF"/>
                </a:solidFill>
                <a:latin typeface="IBM Plex Sans" pitchFamily="34" charset="0"/>
                <a:ea typeface="IBM Plex Sans" pitchFamily="34" charset="-122"/>
                <a:cs typeface="IBM Plex Sans" pitchFamily="34" charset="-120"/>
              </a:rPr>
              <a:t>Task Manager</a:t>
            </a:r>
            <a:endParaRPr lang="en-US" sz="9900" dirty="0"/>
          </a:p>
        </p:txBody>
      </p:sp>
      <p:sp>
        <p:nvSpPr>
          <p:cNvPr id="6" name="Text 4"/>
          <p:cNvSpPr/>
          <p:nvPr/>
        </p:nvSpPr>
        <p:spPr>
          <a:xfrm>
            <a:off x="952500" y="5475015"/>
            <a:ext cx="13735050" cy="1127671"/>
          </a:xfrm>
          <a:prstGeom prst="rect">
            <a:avLst/>
          </a:prstGeom>
          <a:noFill/>
          <a:ln/>
        </p:spPr>
        <p:txBody>
          <a:bodyPr wrap="square" lIns="25400" tIns="25400" rIns="25400" bIns="25400" rtlCol="0" anchor="t">
            <a:normAutofit/>
          </a:bodyPr>
          <a:lstStyle/>
          <a:p>
            <a:pPr algn="l" indent="0" marL="0">
              <a:lnSpc>
                <a:spcPct val="100351"/>
              </a:lnSpc>
              <a:buNone/>
            </a:pPr>
            <a:r>
              <a:rPr lang="en-US" sz="3300" dirty="0">
                <a:solidFill>
                  <a:srgbClr val="FFFFFF">
                    <a:alpha val="92000"/>
                  </a:srgbClr>
                </a:solidFill>
                <a:latin typeface="IBM Plex Sans" pitchFamily="34" charset="0"/>
                <a:ea typeface="IBM Plex Sans" pitchFamily="34" charset="-122"/>
                <a:cs typeface="IBM Plex Sans" pitchFamily="34" charset="-120"/>
              </a:rPr>
              <a:t>One local workspace for Jira-heavy work — daily queries, notes, metrics, and the status updates written from them.</a:t>
            </a:r>
            <a:endParaRPr lang="en-US" sz="3300" dirty="0"/>
          </a:p>
        </p:txBody>
      </p:sp>
      <p:sp>
        <p:nvSpPr>
          <p:cNvPr id="7" name="Text 5"/>
          <p:cNvSpPr/>
          <p:nvPr/>
        </p:nvSpPr>
        <p:spPr>
          <a:xfrm>
            <a:off x="952500" y="9182100"/>
            <a:ext cx="1067544" cy="38100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8000"/>
                  </a:srgbClr>
                </a:solidFill>
                <a:latin typeface="IBM Plex Sans" pitchFamily="34" charset="0"/>
                <a:ea typeface="IBM Plex Sans" pitchFamily="34" charset="-122"/>
                <a:cs typeface="IBM Plex Sans" pitchFamily="34" charset="-120"/>
              </a:rPr>
              <a:t>Purpose</a:t>
            </a:r>
            <a:endParaRPr lang="en-US" sz="2100" dirty="0"/>
          </a:p>
        </p:txBody>
      </p:sp>
      <p:sp>
        <p:nvSpPr>
          <p:cNvPr id="8" name="Text 6"/>
          <p:cNvSpPr/>
          <p:nvPr/>
        </p:nvSpPr>
        <p:spPr>
          <a:xfrm>
            <a:off x="2477244" y="9182100"/>
            <a:ext cx="533326" cy="38100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8000"/>
                  </a:srgbClr>
                </a:solidFill>
                <a:latin typeface="IBM Plex Sans" pitchFamily="34" charset="0"/>
                <a:ea typeface="IBM Plex Sans" pitchFamily="34" charset="-122"/>
                <a:cs typeface="IBM Plex Sans" pitchFamily="34" charset="-120"/>
              </a:rPr>
              <a:t>Use</a:t>
            </a:r>
            <a:endParaRPr lang="en-US" sz="2100" dirty="0"/>
          </a:p>
        </p:txBody>
      </p:sp>
      <p:sp>
        <p:nvSpPr>
          <p:cNvPr id="9" name="Text 7"/>
          <p:cNvSpPr/>
          <p:nvPr/>
        </p:nvSpPr>
        <p:spPr>
          <a:xfrm>
            <a:off x="3467770" y="9182100"/>
            <a:ext cx="743545" cy="38100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8000"/>
                  </a:srgbClr>
                </a:solidFill>
                <a:latin typeface="IBM Plex Sans" pitchFamily="34" charset="0"/>
                <a:ea typeface="IBM Plex Sans" pitchFamily="34" charset="-122"/>
                <a:cs typeface="IBM Plex Sans" pitchFamily="34" charset="-120"/>
              </a:rPr>
              <a:t>Value</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9FB"/>
        </a:solidFill>
      </p:bgPr>
    </p:bg>
    <p:spTree>
      <p:nvGrpSpPr>
        <p:cNvPr id="1" name=""/>
        <p:cNvGrpSpPr/>
        <p:nvPr/>
      </p:nvGrpSpPr>
      <p:grpSpPr>
        <a:xfrm>
          <a:off x="0" y="0"/>
          <a:ext cx="0" cy="0"/>
          <a:chOff x="0" y="0"/>
          <a:chExt cx="0" cy="0"/>
        </a:xfrm>
      </p:grpSpPr>
      <p:sp>
        <p:nvSpPr>
          <p:cNvPr id="2" name="Text 0"/>
          <p:cNvSpPr/>
          <p:nvPr/>
        </p:nvSpPr>
        <p:spPr>
          <a:xfrm>
            <a:off x="952500" y="952500"/>
            <a:ext cx="18021300" cy="828675"/>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0F3133"/>
                </a:solidFill>
                <a:latin typeface="IBM Plex Sans" pitchFamily="34" charset="0"/>
                <a:ea typeface="IBM Plex Sans" pitchFamily="34" charset="-122"/>
                <a:cs typeface="IBM Plex Sans" pitchFamily="34" charset="-120"/>
              </a:rPr>
              <a:t>The Swivel-Chair Day</a:t>
            </a:r>
            <a:endParaRPr lang="en-US" sz="4800" dirty="0"/>
          </a:p>
        </p:txBody>
      </p:sp>
      <p:sp>
        <p:nvSpPr>
          <p:cNvPr id="3" name="Text 1"/>
          <p:cNvSpPr/>
          <p:nvPr/>
        </p:nvSpPr>
        <p:spPr>
          <a:xfrm>
            <a:off x="952500" y="1933575"/>
            <a:ext cx="12753975" cy="944761"/>
          </a:xfrm>
          <a:prstGeom prst="rect">
            <a:avLst/>
          </a:prstGeom>
          <a:noFill/>
          <a:ln/>
        </p:spPr>
        <p:txBody>
          <a:bodyPr wrap="square" lIns="25400" tIns="25400" rIns="25400" bIns="25400" rtlCol="0" anchor="t">
            <a:normAutofit/>
          </a:bodyPr>
          <a:lstStyle/>
          <a:p>
            <a:pPr algn="l" indent="0" marL="0">
              <a:lnSpc>
                <a:spcPct val="106966"/>
              </a:lnSpc>
              <a:buNone/>
            </a:pPr>
            <a:r>
              <a:rPr lang="en-US" sz="2550" dirty="0">
                <a:solidFill>
                  <a:srgbClr val="5B7178"/>
                </a:solidFill>
                <a:latin typeface="IBM Plex Sans" pitchFamily="34" charset="0"/>
                <a:ea typeface="IBM Plex Sans" pitchFamily="34" charset="-122"/>
                <a:cs typeface="IBM Plex Sans" pitchFamily="34" charset="-120"/>
              </a:rPr>
              <a:t>The same question — what am I working on, and is it on track — gets answered in four different places.</a:t>
            </a:r>
            <a:endParaRPr lang="en-US" sz="2550" dirty="0"/>
          </a:p>
        </p:txBody>
      </p:sp>
      <p:sp>
        <p:nvSpPr>
          <p:cNvPr id="4" name="Shape 2"/>
          <p:cNvSpPr/>
          <p:nvPr/>
        </p:nvSpPr>
        <p:spPr>
          <a:xfrm>
            <a:off x="952500" y="3335536"/>
            <a:ext cx="3838575" cy="1884015"/>
          </a:xfrm>
          <a:prstGeom prst="roundRect">
            <a:avLst>
              <a:gd name="adj" fmla="val 5056"/>
            </a:avLst>
          </a:prstGeom>
          <a:solidFill>
            <a:srgbClr val="FFFFFF">
              <a:alpha val="34000"/>
            </a:srgbClr>
          </a:solidFill>
          <a:ln w="9525">
            <a:solidFill>
              <a:srgbClr val="D9E3EA">
                <a:alpha val="34000"/>
              </a:srgbClr>
            </a:solidFill>
            <a:prstDash val="solid"/>
          </a:ln>
        </p:spPr>
      </p:sp>
      <p:sp>
        <p:nvSpPr>
          <p:cNvPr id="5" name="Text 3"/>
          <p:cNvSpPr/>
          <p:nvPr/>
        </p:nvSpPr>
        <p:spPr>
          <a:xfrm>
            <a:off x="1266825" y="3707011"/>
            <a:ext cx="3530918" cy="333375"/>
          </a:xfrm>
          <a:prstGeom prst="rect">
            <a:avLst/>
          </a:prstGeom>
          <a:noFill/>
          <a:ln/>
        </p:spPr>
        <p:txBody>
          <a:bodyPr wrap="square" lIns="25400" tIns="25400" rIns="25400" bIns="25400" rtlCol="0" anchor="t">
            <a:normAutofit/>
          </a:bodyPr>
          <a:lstStyle/>
          <a:p>
            <a:pPr algn="l" indent="0" marL="0">
              <a:buNone/>
            </a:pPr>
            <a:r>
              <a:rPr lang="en-US" sz="1800" dirty="0">
                <a:solidFill>
                  <a:srgbClr val="076EA4">
                    <a:alpha val="34000"/>
                  </a:srgbClr>
                </a:solidFill>
                <a:latin typeface="IBM Plex Mono" pitchFamily="34" charset="0"/>
                <a:ea typeface="IBM Plex Mono" pitchFamily="34" charset="-122"/>
                <a:cs typeface="IBM Plex Mono" pitchFamily="34" charset="-120"/>
              </a:rPr>
              <a:t>01</a:t>
            </a:r>
            <a:endParaRPr lang="en-US" sz="1800" dirty="0"/>
          </a:p>
        </p:txBody>
      </p:sp>
      <p:sp>
        <p:nvSpPr>
          <p:cNvPr id="6" name="Text 4"/>
          <p:cNvSpPr/>
          <p:nvPr/>
        </p:nvSpPr>
        <p:spPr>
          <a:xfrm>
            <a:off x="1266825" y="4154686"/>
            <a:ext cx="3530918" cy="384795"/>
          </a:xfrm>
          <a:prstGeom prst="rect">
            <a:avLst/>
          </a:prstGeom>
          <a:noFill/>
          <a:ln/>
        </p:spPr>
        <p:txBody>
          <a:bodyPr wrap="square" lIns="25400" tIns="25400" rIns="25400" bIns="25400" rtlCol="0" anchor="t">
            <a:normAutofit/>
          </a:bodyPr>
          <a:lstStyle/>
          <a:p>
            <a:pPr algn="l" indent="0" marL="0">
              <a:lnSpc>
                <a:spcPct val="101111"/>
              </a:lnSpc>
              <a:buNone/>
            </a:pPr>
            <a:r>
              <a:rPr lang="en-US" sz="2100" b="1" dirty="0">
                <a:solidFill>
                  <a:srgbClr val="0F3133">
                    <a:alpha val="34000"/>
                  </a:srgbClr>
                </a:solidFill>
                <a:latin typeface="IBM Plex Sans" pitchFamily="34" charset="0"/>
                <a:ea typeface="IBM Plex Sans" pitchFamily="34" charset="-122"/>
                <a:cs typeface="IBM Plex Sans" pitchFamily="34" charset="-120"/>
              </a:rPr>
              <a:t>Jira views and filters</a:t>
            </a:r>
            <a:endParaRPr lang="en-US" sz="2100" dirty="0"/>
          </a:p>
        </p:txBody>
      </p:sp>
      <p:sp>
        <p:nvSpPr>
          <p:cNvPr id="7" name="Shape 5"/>
          <p:cNvSpPr/>
          <p:nvPr/>
        </p:nvSpPr>
        <p:spPr>
          <a:xfrm>
            <a:off x="5133975" y="3335536"/>
            <a:ext cx="3838575" cy="1884015"/>
          </a:xfrm>
          <a:prstGeom prst="roundRect">
            <a:avLst>
              <a:gd name="adj" fmla="val 5056"/>
            </a:avLst>
          </a:prstGeom>
          <a:solidFill>
            <a:srgbClr val="FFFFFF">
              <a:alpha val="34000"/>
            </a:srgbClr>
          </a:solidFill>
          <a:ln w="9525">
            <a:solidFill>
              <a:srgbClr val="D9E3EA">
                <a:alpha val="34000"/>
              </a:srgbClr>
            </a:solidFill>
            <a:prstDash val="solid"/>
          </a:ln>
        </p:spPr>
      </p:sp>
      <p:sp>
        <p:nvSpPr>
          <p:cNvPr id="8" name="Text 6"/>
          <p:cNvSpPr/>
          <p:nvPr/>
        </p:nvSpPr>
        <p:spPr>
          <a:xfrm>
            <a:off x="5448300" y="3707011"/>
            <a:ext cx="3530918" cy="333375"/>
          </a:xfrm>
          <a:prstGeom prst="rect">
            <a:avLst/>
          </a:prstGeom>
          <a:noFill/>
          <a:ln/>
        </p:spPr>
        <p:txBody>
          <a:bodyPr wrap="square" lIns="25400" tIns="25400" rIns="25400" bIns="25400" rtlCol="0" anchor="t">
            <a:normAutofit/>
          </a:bodyPr>
          <a:lstStyle/>
          <a:p>
            <a:pPr algn="l" indent="0" marL="0">
              <a:buNone/>
            </a:pPr>
            <a:r>
              <a:rPr lang="en-US" sz="1800" dirty="0">
                <a:solidFill>
                  <a:srgbClr val="076EA4">
                    <a:alpha val="34000"/>
                  </a:srgbClr>
                </a:solidFill>
                <a:latin typeface="IBM Plex Mono" pitchFamily="34" charset="0"/>
                <a:ea typeface="IBM Plex Mono" pitchFamily="34" charset="-122"/>
                <a:cs typeface="IBM Plex Mono" pitchFamily="34" charset="-120"/>
              </a:rPr>
              <a:t>02</a:t>
            </a:r>
            <a:endParaRPr lang="en-US" sz="1800" dirty="0"/>
          </a:p>
        </p:txBody>
      </p:sp>
      <p:sp>
        <p:nvSpPr>
          <p:cNvPr id="9" name="Text 7"/>
          <p:cNvSpPr/>
          <p:nvPr/>
        </p:nvSpPr>
        <p:spPr>
          <a:xfrm>
            <a:off x="5448300" y="4154686"/>
            <a:ext cx="3530918" cy="384795"/>
          </a:xfrm>
          <a:prstGeom prst="rect">
            <a:avLst/>
          </a:prstGeom>
          <a:noFill/>
          <a:ln/>
        </p:spPr>
        <p:txBody>
          <a:bodyPr wrap="square" lIns="25400" tIns="25400" rIns="25400" bIns="25400" rtlCol="0" anchor="t">
            <a:normAutofit/>
          </a:bodyPr>
          <a:lstStyle/>
          <a:p>
            <a:pPr algn="l" indent="0" marL="0">
              <a:lnSpc>
                <a:spcPct val="101111"/>
              </a:lnSpc>
              <a:buNone/>
            </a:pPr>
            <a:r>
              <a:rPr lang="en-US" sz="2100" b="1" dirty="0">
                <a:solidFill>
                  <a:srgbClr val="0F3133">
                    <a:alpha val="34000"/>
                  </a:srgbClr>
                </a:solidFill>
                <a:latin typeface="IBM Plex Sans" pitchFamily="34" charset="0"/>
                <a:ea typeface="IBM Plex Sans" pitchFamily="34" charset="-122"/>
                <a:cs typeface="IBM Plex Sans" pitchFamily="34" charset="-120"/>
              </a:rPr>
              <a:t>Spreadsheet trackers</a:t>
            </a:r>
            <a:endParaRPr lang="en-US" sz="2100" dirty="0"/>
          </a:p>
        </p:txBody>
      </p:sp>
      <p:sp>
        <p:nvSpPr>
          <p:cNvPr id="10" name="Shape 8"/>
          <p:cNvSpPr/>
          <p:nvPr/>
        </p:nvSpPr>
        <p:spPr>
          <a:xfrm>
            <a:off x="9257872" y="3250126"/>
            <a:ext cx="3953733" cy="1940535"/>
          </a:xfrm>
          <a:prstGeom prst="roundRect">
            <a:avLst>
              <a:gd name="adj" fmla="val 5056"/>
            </a:avLst>
          </a:prstGeom>
          <a:solidFill>
            <a:srgbClr val="FFFFFF"/>
          </a:solidFill>
          <a:ln w="9811">
            <a:solidFill>
              <a:srgbClr val="D9E3EA"/>
            </a:solidFill>
            <a:prstDash val="solid"/>
          </a:ln>
        </p:spPr>
      </p:sp>
      <p:sp>
        <p:nvSpPr>
          <p:cNvPr id="11" name="Text 9"/>
          <p:cNvSpPr/>
          <p:nvPr/>
        </p:nvSpPr>
        <p:spPr>
          <a:xfrm>
            <a:off x="9581626" y="3632745"/>
            <a:ext cx="3636844" cy="342233"/>
          </a:xfrm>
          <a:prstGeom prst="rect">
            <a:avLst/>
          </a:prstGeom>
          <a:noFill/>
          <a:ln/>
        </p:spPr>
        <p:txBody>
          <a:bodyPr wrap="square" lIns="25400" tIns="25400" rIns="25400" bIns="25400" rtlCol="0" anchor="t">
            <a:normAutofit/>
          </a:bodyPr>
          <a:lstStyle/>
          <a:p>
            <a:pPr algn="l" indent="0" marL="0">
              <a:buNone/>
            </a:pPr>
            <a:r>
              <a:rPr lang="en-US" sz="1854" dirty="0">
                <a:solidFill>
                  <a:srgbClr val="076EA4"/>
                </a:solidFill>
                <a:latin typeface="IBM Plex Mono" pitchFamily="34" charset="0"/>
                <a:ea typeface="IBM Plex Mono" pitchFamily="34" charset="-122"/>
                <a:cs typeface="IBM Plex Mono" pitchFamily="34" charset="-120"/>
              </a:rPr>
              <a:t>03</a:t>
            </a:r>
            <a:endParaRPr lang="en-US" sz="1854" dirty="0"/>
          </a:p>
        </p:txBody>
      </p:sp>
      <p:sp>
        <p:nvSpPr>
          <p:cNvPr id="12" name="Text 10"/>
          <p:cNvSpPr/>
          <p:nvPr/>
        </p:nvSpPr>
        <p:spPr>
          <a:xfrm>
            <a:off x="9581626" y="4093850"/>
            <a:ext cx="3405409" cy="752292"/>
          </a:xfrm>
          <a:prstGeom prst="rect">
            <a:avLst/>
          </a:prstGeom>
          <a:noFill/>
          <a:ln/>
        </p:spPr>
        <p:txBody>
          <a:bodyPr wrap="square" lIns="25400" tIns="25400" rIns="25400" bIns="25400" rtlCol="0" anchor="t">
            <a:normAutofit/>
          </a:bodyPr>
          <a:lstStyle/>
          <a:p>
            <a:pPr algn="l" indent="0" marL="0">
              <a:lnSpc>
                <a:spcPct val="101111"/>
              </a:lnSpc>
              <a:buNone/>
            </a:pPr>
            <a:r>
              <a:rPr lang="en-US" sz="2163" b="1" dirty="0">
                <a:solidFill>
                  <a:srgbClr val="0F3133"/>
                </a:solidFill>
                <a:latin typeface="IBM Plex Sans" pitchFamily="34" charset="0"/>
                <a:ea typeface="IBM Plex Sans" pitchFamily="34" charset="-122"/>
                <a:cs typeface="IBM Plex Sans" pitchFamily="34" charset="-120"/>
              </a:rPr>
              <a:t>Private notes on each issue</a:t>
            </a:r>
            <a:endParaRPr lang="en-US" sz="2163" dirty="0"/>
          </a:p>
        </p:txBody>
      </p:sp>
      <p:sp>
        <p:nvSpPr>
          <p:cNvPr id="13" name="Shape 11"/>
          <p:cNvSpPr/>
          <p:nvPr/>
        </p:nvSpPr>
        <p:spPr>
          <a:xfrm>
            <a:off x="13496925" y="3335536"/>
            <a:ext cx="3838575" cy="1884015"/>
          </a:xfrm>
          <a:prstGeom prst="roundRect">
            <a:avLst>
              <a:gd name="adj" fmla="val 5056"/>
            </a:avLst>
          </a:prstGeom>
          <a:solidFill>
            <a:srgbClr val="FFFFFF">
              <a:alpha val="34000"/>
            </a:srgbClr>
          </a:solidFill>
          <a:ln w="9525">
            <a:solidFill>
              <a:srgbClr val="D9E3EA">
                <a:alpha val="34000"/>
              </a:srgbClr>
            </a:solidFill>
            <a:prstDash val="solid"/>
          </a:ln>
        </p:spPr>
      </p:sp>
      <p:sp>
        <p:nvSpPr>
          <p:cNvPr id="14" name="Text 12"/>
          <p:cNvSpPr/>
          <p:nvPr/>
        </p:nvSpPr>
        <p:spPr>
          <a:xfrm>
            <a:off x="13811250" y="3707011"/>
            <a:ext cx="3530918" cy="333375"/>
          </a:xfrm>
          <a:prstGeom prst="rect">
            <a:avLst/>
          </a:prstGeom>
          <a:noFill/>
          <a:ln/>
        </p:spPr>
        <p:txBody>
          <a:bodyPr wrap="square" lIns="25400" tIns="25400" rIns="25400" bIns="25400" rtlCol="0" anchor="t">
            <a:normAutofit/>
          </a:bodyPr>
          <a:lstStyle/>
          <a:p>
            <a:pPr algn="l" indent="0" marL="0">
              <a:buNone/>
            </a:pPr>
            <a:r>
              <a:rPr lang="en-US" sz="1800" dirty="0">
                <a:solidFill>
                  <a:srgbClr val="076EA4">
                    <a:alpha val="34000"/>
                  </a:srgbClr>
                </a:solidFill>
                <a:latin typeface="IBM Plex Mono" pitchFamily="34" charset="0"/>
                <a:ea typeface="IBM Plex Mono" pitchFamily="34" charset="-122"/>
                <a:cs typeface="IBM Plex Mono" pitchFamily="34" charset="-120"/>
              </a:rPr>
              <a:t>04</a:t>
            </a:r>
            <a:endParaRPr lang="en-US" sz="1800" dirty="0"/>
          </a:p>
        </p:txBody>
      </p:sp>
      <p:sp>
        <p:nvSpPr>
          <p:cNvPr id="15" name="Text 13"/>
          <p:cNvSpPr/>
          <p:nvPr/>
        </p:nvSpPr>
        <p:spPr>
          <a:xfrm>
            <a:off x="13811250" y="4154686"/>
            <a:ext cx="3306223" cy="731490"/>
          </a:xfrm>
          <a:prstGeom prst="rect">
            <a:avLst/>
          </a:prstGeom>
          <a:noFill/>
          <a:ln/>
        </p:spPr>
        <p:txBody>
          <a:bodyPr wrap="square" lIns="25400" tIns="25400" rIns="25400" bIns="25400" rtlCol="0" anchor="t">
            <a:normAutofit/>
          </a:bodyPr>
          <a:lstStyle/>
          <a:p>
            <a:pPr algn="l" indent="0" marL="0">
              <a:lnSpc>
                <a:spcPct val="101111"/>
              </a:lnSpc>
              <a:buNone/>
            </a:pPr>
            <a:r>
              <a:rPr lang="en-US" sz="2100" b="1" dirty="0">
                <a:solidFill>
                  <a:srgbClr val="0F3133">
                    <a:alpha val="34000"/>
                  </a:srgbClr>
                </a:solidFill>
                <a:latin typeface="IBM Plex Sans" pitchFamily="34" charset="0"/>
                <a:ea typeface="IBM Plex Sans" pitchFamily="34" charset="-122"/>
                <a:cs typeface="IBM Plex Sans" pitchFamily="34" charset="-120"/>
              </a:rPr>
              <a:t>Status updates retyped by hand into each place</a:t>
            </a:r>
            <a:endParaRPr lang="en-US" sz="2100" dirty="0"/>
          </a:p>
        </p:txBody>
      </p:sp>
      <p:sp>
        <p:nvSpPr>
          <p:cNvPr id="16" name="Shape 14"/>
          <p:cNvSpPr/>
          <p:nvPr/>
        </p:nvSpPr>
        <p:spPr>
          <a:xfrm>
            <a:off x="10126935" y="5467201"/>
            <a:ext cx="171450" cy="171450"/>
          </a:xfrm>
          <a:prstGeom prst="ellipse">
            <a:avLst/>
          </a:prstGeom>
          <a:solidFill>
            <a:srgbClr val="FDD219"/>
          </a:solidFill>
          <a:ln/>
          <a:effectLst>
            <a:outerShdw sx="100000" sy="100000" kx="0" ky="0" algn="bl" rotWithShape="0" blurRad="101600" dist="50800" dir="16200000">
              <a:srgbClr val="FDD219">
                <a:alpha val="28000"/>
              </a:srgbClr>
            </a:outerShdw>
          </a:effectLst>
        </p:spPr>
      </p:sp>
      <p:sp>
        <p:nvSpPr>
          <p:cNvPr id="17" name="Text 15"/>
          <p:cNvSpPr/>
          <p:nvPr/>
        </p:nvSpPr>
        <p:spPr>
          <a:xfrm>
            <a:off x="952500" y="6133951"/>
            <a:ext cx="13620750" cy="491430"/>
          </a:xfrm>
          <a:prstGeom prst="rect">
            <a:avLst/>
          </a:prstGeom>
          <a:noFill/>
          <a:ln/>
        </p:spPr>
        <p:txBody>
          <a:bodyPr wrap="square" lIns="25400" tIns="25400" rIns="25400" bIns="25400" rtlCol="0" anchor="t">
            <a:normAutofit/>
          </a:bodyPr>
          <a:lstStyle/>
          <a:p>
            <a:pPr algn="l" indent="0" marL="0">
              <a:lnSpc>
                <a:spcPct val="106966"/>
              </a:lnSpc>
              <a:buNone/>
            </a:pPr>
            <a:r>
              <a:rPr lang="en-US" sz="2550" dirty="0">
                <a:solidFill>
                  <a:srgbClr val="0F3133"/>
                </a:solidFill>
                <a:latin typeface="IBM Plex Sans" pitchFamily="34" charset="0"/>
                <a:ea typeface="IBM Plex Sans" pitchFamily="34" charset="-122"/>
                <a:cs typeface="IBM Plex Sans" pitchFamily="34" charset="-120"/>
              </a:rPr>
              <a:t>Every move between them is re-reading context the last tool already had.</a:t>
            </a:r>
            <a:endParaRPr lang="en-US" sz="2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952500"/>
            <a:ext cx="18021300" cy="828675"/>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0F3133"/>
                </a:solidFill>
                <a:latin typeface="IBM Plex Sans" pitchFamily="34" charset="0"/>
                <a:ea typeface="IBM Plex Sans" pitchFamily="34" charset="-122"/>
                <a:cs typeface="IBM Plex Sans" pitchFamily="34" charset="-120"/>
              </a:rPr>
              <a:t>One Local Workspace</a:t>
            </a:r>
            <a:endParaRPr lang="en-US" sz="4800" dirty="0"/>
          </a:p>
        </p:txBody>
      </p:sp>
      <p:sp>
        <p:nvSpPr>
          <p:cNvPr id="3" name="Text 1"/>
          <p:cNvSpPr/>
          <p:nvPr/>
        </p:nvSpPr>
        <p:spPr>
          <a:xfrm>
            <a:off x="952500" y="1933575"/>
            <a:ext cx="13735050" cy="944761"/>
          </a:xfrm>
          <a:prstGeom prst="rect">
            <a:avLst/>
          </a:prstGeom>
          <a:noFill/>
          <a:ln/>
        </p:spPr>
        <p:txBody>
          <a:bodyPr wrap="square" lIns="25400" tIns="25400" rIns="25400" bIns="25400" rtlCol="0" anchor="t">
            <a:normAutofit/>
          </a:bodyPr>
          <a:lstStyle/>
          <a:p>
            <a:pPr algn="l" indent="0" marL="0">
              <a:lnSpc>
                <a:spcPct val="106966"/>
              </a:lnSpc>
              <a:buNone/>
            </a:pPr>
            <a:r>
              <a:rPr lang="en-US" sz="2550" dirty="0">
                <a:solidFill>
                  <a:srgbClr val="5B7178"/>
                </a:solidFill>
                <a:latin typeface="IBM Plex Sans" pitchFamily="34" charset="0"/>
                <a:ea typeface="IBM Plex Sans" pitchFamily="34" charset="-122"/>
                <a:cs typeface="IBM Plex Sans" pitchFamily="34" charset="-120"/>
              </a:rPr>
              <a:t>A desktop or browser app that talks to your Jira project through a local proxy. Six tabs cover the whole loop.</a:t>
            </a:r>
            <a:endParaRPr lang="en-US" sz="2550" dirty="0"/>
          </a:p>
        </p:txBody>
      </p:sp>
      <p:sp>
        <p:nvSpPr>
          <p:cNvPr id="4" name="Shape 2"/>
          <p:cNvSpPr/>
          <p:nvPr/>
        </p:nvSpPr>
        <p:spPr>
          <a:xfrm>
            <a:off x="952500" y="3335536"/>
            <a:ext cx="16383000" cy="723900"/>
          </a:xfrm>
          <a:custGeom>
            <a:avLst/>
            <a:gdLst/>
            <a:ahLst/>
            <a:cxnLst/>
            <a:rect l="l" t="t" r="r" b="b"/>
            <a:pathLst>
              <a:path w="16383000" h="723900">
                <a:moveTo>
                  <a:pt x="76200" y="0"/>
                </a:moveTo>
                <a:lnTo>
                  <a:pt x="16306800" y="0"/>
                </a:lnTo>
                <a:arcTo hR="76200" wR="76200" stAng="16200000" swAng="5400000"/>
                <a:lnTo>
                  <a:pt x="16383000" y="723900"/>
                </a:lnTo>
                <a:lnTo>
                  <a:pt x="0" y="723900"/>
                </a:lnTo>
                <a:lnTo>
                  <a:pt x="0" y="76200"/>
                </a:lnTo>
                <a:arcTo hR="76200" wR="76200" stAng="10800000" swAng="5400000"/>
                <a:close/>
              </a:path>
            </a:pathLst>
          </a:custGeom>
          <a:gradFill rotWithShape="1">
            <a:gsLst>
              <a:gs pos="0">
                <a:srgbClr val="0C93D9">
                  <a:alpha val="100000"/>
                </a:srgbClr>
              </a:gs>
              <a:gs pos="100000">
                <a:srgbClr val="076EA4">
                  <a:alpha val="100000"/>
                </a:srgbClr>
              </a:gs>
            </a:gsLst>
            <a:lin ang="2700000" scaled="0"/>
          </a:gradFill>
          <a:ln/>
        </p:spPr>
      </p:sp>
      <p:sp>
        <p:nvSpPr>
          <p:cNvPr id="5" name="Text 3"/>
          <p:cNvSpPr/>
          <p:nvPr/>
        </p:nvSpPr>
        <p:spPr>
          <a:xfrm>
            <a:off x="1276350" y="3537942"/>
            <a:ext cx="1835691" cy="357188"/>
          </a:xfrm>
          <a:prstGeom prst="rect">
            <a:avLst/>
          </a:prstGeom>
          <a:noFill/>
          <a:ln/>
        </p:spPr>
        <p:txBody>
          <a:bodyPr wrap="square" lIns="25400" tIns="25400" rIns="25400" bIns="25400" rtlCol="0" anchor="t">
            <a:normAutofit/>
          </a:bodyPr>
          <a:lstStyle/>
          <a:p>
            <a:pPr algn="l" indent="0" marL="0">
              <a:buNone/>
            </a:pPr>
            <a:r>
              <a:rPr lang="en-US" sz="1950" b="1" spc="59" kern="0" dirty="0">
                <a:solidFill>
                  <a:srgbClr val="FFFFFF"/>
                </a:solidFill>
                <a:latin typeface="IBM Plex Sans" pitchFamily="34" charset="0"/>
                <a:ea typeface="IBM Plex Sans" pitchFamily="34" charset="-122"/>
                <a:cs typeface="IBM Plex Sans" pitchFamily="34" charset="-120"/>
              </a:rPr>
              <a:t>Task Manager</a:t>
            </a:r>
            <a:endParaRPr lang="en-US" sz="1950" dirty="0"/>
          </a:p>
        </p:txBody>
      </p:sp>
      <p:sp>
        <p:nvSpPr>
          <p:cNvPr id="6" name="Shape 4"/>
          <p:cNvSpPr/>
          <p:nvPr/>
        </p:nvSpPr>
        <p:spPr>
          <a:xfrm>
            <a:off x="7992740" y="3842742"/>
            <a:ext cx="2497634" cy="28575"/>
          </a:xfrm>
          <a:prstGeom prst="rect">
            <a:avLst/>
          </a:prstGeom>
          <a:solidFill>
            <a:srgbClr val="FDD219"/>
          </a:solidFill>
          <a:ln/>
        </p:spPr>
      </p:sp>
      <p:sp>
        <p:nvSpPr>
          <p:cNvPr id="7" name="Text 5"/>
          <p:cNvSpPr/>
          <p:nvPr/>
        </p:nvSpPr>
        <p:spPr>
          <a:xfrm>
            <a:off x="8202290" y="3523655"/>
            <a:ext cx="2328297" cy="357188"/>
          </a:xfrm>
          <a:prstGeom prst="rect">
            <a:avLst/>
          </a:prstGeom>
          <a:noFill/>
          <a:ln/>
        </p:spPr>
        <p:txBody>
          <a:bodyPr wrap="square" lIns="25400" tIns="25400" rIns="25400" bIns="25400" rtlCol="0" anchor="t">
            <a:normAutofit/>
          </a:bodyPr>
          <a:lstStyle/>
          <a:p>
            <a:pPr algn="l" indent="0" marL="0">
              <a:buNone/>
            </a:pPr>
            <a:r>
              <a:rPr lang="en-US" sz="1950" b="1" dirty="0">
                <a:solidFill>
                  <a:srgbClr val="FDD219"/>
                </a:solidFill>
                <a:latin typeface="IBM Plex Sans" pitchFamily="34" charset="0"/>
                <a:ea typeface="IBM Plex Sans" pitchFamily="34" charset="-122"/>
                <a:cs typeface="IBM Plex Sans" pitchFamily="34" charset="-120"/>
              </a:rPr>
              <a:t>Task Management</a:t>
            </a:r>
            <a:endParaRPr lang="en-US" sz="1950" dirty="0"/>
          </a:p>
        </p:txBody>
      </p:sp>
      <p:sp>
        <p:nvSpPr>
          <p:cNvPr id="8" name="Text 6"/>
          <p:cNvSpPr/>
          <p:nvPr/>
        </p:nvSpPr>
        <p:spPr>
          <a:xfrm>
            <a:off x="10699924" y="3537942"/>
            <a:ext cx="976045" cy="357188"/>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alpha val="88000"/>
                  </a:srgbClr>
                </a:solidFill>
                <a:latin typeface="IBM Plex Sans" pitchFamily="34" charset="0"/>
                <a:ea typeface="IBM Plex Sans" pitchFamily="34" charset="-122"/>
                <a:cs typeface="IBM Plex Sans" pitchFamily="34" charset="-120"/>
              </a:rPr>
              <a:t>Metrics</a:t>
            </a:r>
            <a:endParaRPr lang="en-US" sz="1950" dirty="0"/>
          </a:p>
        </p:txBody>
      </p:sp>
      <p:sp>
        <p:nvSpPr>
          <p:cNvPr id="9" name="Text 7"/>
          <p:cNvSpPr/>
          <p:nvPr/>
        </p:nvSpPr>
        <p:spPr>
          <a:xfrm>
            <a:off x="11968237" y="3537942"/>
            <a:ext cx="2234736" cy="357188"/>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alpha val="88000"/>
                  </a:srgbClr>
                </a:solidFill>
                <a:latin typeface="IBM Plex Sans" pitchFamily="34" charset="0"/>
                <a:ea typeface="IBM Plex Sans" pitchFamily="34" charset="-122"/>
                <a:cs typeface="IBM Plex Sans" pitchFamily="34" charset="-120"/>
              </a:rPr>
              <a:t>Project Managers</a:t>
            </a:r>
            <a:endParaRPr lang="en-US" sz="1950" dirty="0"/>
          </a:p>
        </p:txBody>
      </p:sp>
      <p:sp>
        <p:nvSpPr>
          <p:cNvPr id="10" name="Text 8"/>
          <p:cNvSpPr/>
          <p:nvPr/>
        </p:nvSpPr>
        <p:spPr>
          <a:xfrm>
            <a:off x="14380815" y="3537942"/>
            <a:ext cx="1656427" cy="357188"/>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alpha val="88000"/>
                  </a:srgbClr>
                </a:solidFill>
                <a:latin typeface="IBM Plex Sans" pitchFamily="34" charset="0"/>
                <a:ea typeface="IBM Plex Sans" pitchFamily="34" charset="-122"/>
                <a:cs typeface="IBM Plex Sans" pitchFamily="34" charset="-120"/>
              </a:rPr>
              <a:t>Past Reports</a:t>
            </a:r>
            <a:endParaRPr lang="en-US" sz="1950" dirty="0"/>
          </a:p>
        </p:txBody>
      </p:sp>
      <p:sp>
        <p:nvSpPr>
          <p:cNvPr id="11" name="Text 9"/>
          <p:cNvSpPr/>
          <p:nvPr/>
        </p:nvSpPr>
        <p:spPr>
          <a:xfrm>
            <a:off x="16267658" y="3537942"/>
            <a:ext cx="629796" cy="357188"/>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alpha val="88000"/>
                  </a:srgbClr>
                </a:solidFill>
                <a:latin typeface="IBM Plex Sans" pitchFamily="34" charset="0"/>
                <a:ea typeface="IBM Plex Sans" pitchFamily="34" charset="-122"/>
                <a:cs typeface="IBM Plex Sans" pitchFamily="34" charset="-120"/>
              </a:rPr>
              <a:t>Chat</a:t>
            </a:r>
            <a:endParaRPr lang="en-US" sz="1950" dirty="0"/>
          </a:p>
        </p:txBody>
      </p:sp>
      <p:sp>
        <p:nvSpPr>
          <p:cNvPr id="12" name="Shape 10"/>
          <p:cNvSpPr/>
          <p:nvPr/>
        </p:nvSpPr>
        <p:spPr>
          <a:xfrm>
            <a:off x="952500" y="4059436"/>
            <a:ext cx="16383000" cy="3891855"/>
          </a:xfrm>
          <a:prstGeom prst="rect">
            <a:avLst/>
          </a:prstGeom>
          <a:solidFill>
            <a:srgbClr val="D9E3EA"/>
          </a:solidFill>
          <a:ln/>
        </p:spPr>
      </p:sp>
      <p:sp>
        <p:nvSpPr>
          <p:cNvPr id="13" name="Shape 11"/>
          <p:cNvSpPr/>
          <p:nvPr/>
        </p:nvSpPr>
        <p:spPr>
          <a:xfrm>
            <a:off x="952500" y="7941766"/>
            <a:ext cx="16383000" cy="9525"/>
          </a:xfrm>
          <a:prstGeom prst="rect">
            <a:avLst/>
          </a:prstGeom>
          <a:solidFill>
            <a:srgbClr val="D9E3EA"/>
          </a:solidFill>
          <a:ln/>
        </p:spPr>
      </p:sp>
      <p:sp>
        <p:nvSpPr>
          <p:cNvPr id="14" name="Shape 12"/>
          <p:cNvSpPr/>
          <p:nvPr/>
        </p:nvSpPr>
        <p:spPr>
          <a:xfrm>
            <a:off x="952500" y="4059436"/>
            <a:ext cx="9525" cy="3891855"/>
          </a:xfrm>
          <a:prstGeom prst="rect">
            <a:avLst/>
          </a:prstGeom>
          <a:solidFill>
            <a:srgbClr val="D9E3EA"/>
          </a:solidFill>
          <a:ln/>
        </p:spPr>
      </p:sp>
      <p:sp>
        <p:nvSpPr>
          <p:cNvPr id="15" name="Shape 13"/>
          <p:cNvSpPr/>
          <p:nvPr/>
        </p:nvSpPr>
        <p:spPr>
          <a:xfrm>
            <a:off x="17325975" y="4059436"/>
            <a:ext cx="9525" cy="3891855"/>
          </a:xfrm>
          <a:prstGeom prst="rect">
            <a:avLst/>
          </a:prstGeom>
          <a:solidFill>
            <a:srgbClr val="D9E3EA"/>
          </a:solidFill>
          <a:ln/>
        </p:spPr>
      </p:sp>
      <p:sp>
        <p:nvSpPr>
          <p:cNvPr id="16" name="Shape 14"/>
          <p:cNvSpPr/>
          <p:nvPr/>
        </p:nvSpPr>
        <p:spPr>
          <a:xfrm>
            <a:off x="962025" y="4059436"/>
            <a:ext cx="5441900" cy="1931640"/>
          </a:xfrm>
          <a:prstGeom prst="rect">
            <a:avLst/>
          </a:prstGeom>
          <a:solidFill>
            <a:srgbClr val="FFFFFF"/>
          </a:solidFill>
          <a:ln/>
        </p:spPr>
      </p:sp>
      <p:sp>
        <p:nvSpPr>
          <p:cNvPr id="17" name="Text 15"/>
          <p:cNvSpPr/>
          <p:nvPr/>
        </p:nvSpPr>
        <p:spPr>
          <a:xfrm>
            <a:off x="1285875" y="4440436"/>
            <a:ext cx="5273620"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0F3133"/>
                </a:solidFill>
                <a:latin typeface="IBM Plex Sans" pitchFamily="34" charset="0"/>
                <a:ea typeface="IBM Plex Sans" pitchFamily="34" charset="-122"/>
                <a:cs typeface="IBM Plex Sans" pitchFamily="34" charset="-120"/>
              </a:rPr>
              <a:t>Task Management</a:t>
            </a:r>
            <a:endParaRPr lang="en-US" sz="2100" dirty="0"/>
          </a:p>
        </p:txBody>
      </p:sp>
      <p:sp>
        <p:nvSpPr>
          <p:cNvPr id="18" name="Text 16"/>
          <p:cNvSpPr/>
          <p:nvPr/>
        </p:nvSpPr>
        <p:spPr>
          <a:xfrm>
            <a:off x="1285875" y="4916686"/>
            <a:ext cx="4938026" cy="731490"/>
          </a:xfrm>
          <a:prstGeom prst="rect">
            <a:avLst/>
          </a:prstGeom>
          <a:noFill/>
          <a:ln/>
        </p:spPr>
        <p:txBody>
          <a:bodyPr wrap="square" lIns="25400" tIns="25400" rIns="25400" bIns="25400" rtlCol="0" anchor="t">
            <a:normAutofit/>
          </a:bodyPr>
          <a:lstStyle/>
          <a:p>
            <a:pPr algn="l" indent="0" marL="0">
              <a:lnSpc>
                <a:spcPct val="108657"/>
              </a:lnSpc>
              <a:buNone/>
            </a:pPr>
            <a:r>
              <a:rPr lang="en-US" sz="1950" dirty="0">
                <a:solidFill>
                  <a:srgbClr val="5B7178"/>
                </a:solidFill>
                <a:latin typeface="IBM Plex Sans" pitchFamily="34" charset="0"/>
                <a:ea typeface="IBM Plex Sans" pitchFamily="34" charset="-122"/>
                <a:cs typeface="IBM Plex Sans" pitchFamily="34" charset="-120"/>
              </a:rPr>
              <a:t>Up to five saved JQL queries, inline edits, notes, priority, create issue.</a:t>
            </a:r>
            <a:endParaRPr lang="en-US" sz="1950" dirty="0"/>
          </a:p>
        </p:txBody>
      </p:sp>
      <p:sp>
        <p:nvSpPr>
          <p:cNvPr id="19" name="Shape 17"/>
          <p:cNvSpPr/>
          <p:nvPr/>
        </p:nvSpPr>
        <p:spPr>
          <a:xfrm>
            <a:off x="6422975" y="4059436"/>
            <a:ext cx="5441975" cy="1931640"/>
          </a:xfrm>
          <a:prstGeom prst="rect">
            <a:avLst/>
          </a:prstGeom>
          <a:solidFill>
            <a:srgbClr val="FFFFFF"/>
          </a:solidFill>
          <a:ln/>
        </p:spPr>
      </p:sp>
      <p:sp>
        <p:nvSpPr>
          <p:cNvPr id="20" name="Text 18"/>
          <p:cNvSpPr/>
          <p:nvPr/>
        </p:nvSpPr>
        <p:spPr>
          <a:xfrm>
            <a:off x="6746825" y="4440436"/>
            <a:ext cx="5273702"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0F3133"/>
                </a:solidFill>
                <a:latin typeface="IBM Plex Sans" pitchFamily="34" charset="0"/>
                <a:ea typeface="IBM Plex Sans" pitchFamily="34" charset="-122"/>
                <a:cs typeface="IBM Plex Sans" pitchFamily="34" charset="-120"/>
              </a:rPr>
              <a:t>Metrics</a:t>
            </a:r>
            <a:endParaRPr lang="en-US" sz="2100" dirty="0"/>
          </a:p>
        </p:txBody>
      </p:sp>
      <p:sp>
        <p:nvSpPr>
          <p:cNvPr id="21" name="Text 19"/>
          <p:cNvSpPr/>
          <p:nvPr/>
        </p:nvSpPr>
        <p:spPr>
          <a:xfrm>
            <a:off x="6746825" y="4916686"/>
            <a:ext cx="4938103" cy="731490"/>
          </a:xfrm>
          <a:prstGeom prst="rect">
            <a:avLst/>
          </a:prstGeom>
          <a:noFill/>
          <a:ln/>
        </p:spPr>
        <p:txBody>
          <a:bodyPr wrap="square" lIns="25400" tIns="25400" rIns="25400" bIns="25400" rtlCol="0" anchor="t">
            <a:normAutofit/>
          </a:bodyPr>
          <a:lstStyle/>
          <a:p>
            <a:pPr algn="l" indent="0" marL="0">
              <a:lnSpc>
                <a:spcPct val="108657"/>
              </a:lnSpc>
              <a:buNone/>
            </a:pPr>
            <a:r>
              <a:rPr lang="en-US" sz="1950" dirty="0">
                <a:solidFill>
                  <a:srgbClr val="5B7178"/>
                </a:solidFill>
                <a:latin typeface="IBM Plex Sans" pitchFamily="34" charset="0"/>
                <a:ea typeface="IBM Plex Sans" pitchFamily="34" charset="-122"/>
                <a:cs typeface="IBM Plex Sans" pitchFamily="34" charset="-120"/>
              </a:rPr>
              <a:t>Project and contributor health across saved epic and JQL presets.</a:t>
            </a:r>
            <a:endParaRPr lang="en-US" sz="1950" dirty="0"/>
          </a:p>
        </p:txBody>
      </p:sp>
      <p:sp>
        <p:nvSpPr>
          <p:cNvPr id="22" name="Shape 20"/>
          <p:cNvSpPr/>
          <p:nvPr/>
        </p:nvSpPr>
        <p:spPr>
          <a:xfrm>
            <a:off x="11884000" y="4059436"/>
            <a:ext cx="5441900" cy="1931640"/>
          </a:xfrm>
          <a:prstGeom prst="rect">
            <a:avLst/>
          </a:prstGeom>
          <a:solidFill>
            <a:srgbClr val="FFFFFF"/>
          </a:solidFill>
          <a:ln/>
        </p:spPr>
      </p:sp>
      <p:sp>
        <p:nvSpPr>
          <p:cNvPr id="23" name="Text 21"/>
          <p:cNvSpPr/>
          <p:nvPr/>
        </p:nvSpPr>
        <p:spPr>
          <a:xfrm>
            <a:off x="12207850" y="4440436"/>
            <a:ext cx="5273620"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0F3133"/>
                </a:solidFill>
                <a:latin typeface="IBM Plex Sans" pitchFamily="34" charset="0"/>
                <a:ea typeface="IBM Plex Sans" pitchFamily="34" charset="-122"/>
                <a:cs typeface="IBM Plex Sans" pitchFamily="34" charset="-120"/>
              </a:rPr>
              <a:t>Project Managers</a:t>
            </a:r>
            <a:endParaRPr lang="en-US" sz="2100" dirty="0"/>
          </a:p>
        </p:txBody>
      </p:sp>
      <p:sp>
        <p:nvSpPr>
          <p:cNvPr id="24" name="Text 22"/>
          <p:cNvSpPr/>
          <p:nvPr/>
        </p:nvSpPr>
        <p:spPr>
          <a:xfrm>
            <a:off x="12207850" y="4916686"/>
            <a:ext cx="4938026" cy="731490"/>
          </a:xfrm>
          <a:prstGeom prst="rect">
            <a:avLst/>
          </a:prstGeom>
          <a:noFill/>
          <a:ln/>
        </p:spPr>
        <p:txBody>
          <a:bodyPr wrap="square" lIns="25400" tIns="25400" rIns="25400" bIns="25400" rtlCol="0" anchor="t">
            <a:normAutofit/>
          </a:bodyPr>
          <a:lstStyle/>
          <a:p>
            <a:pPr algn="l" indent="0" marL="0">
              <a:lnSpc>
                <a:spcPct val="108657"/>
              </a:lnSpc>
              <a:buNone/>
            </a:pPr>
            <a:r>
              <a:rPr lang="en-US" sz="1950" dirty="0">
                <a:solidFill>
                  <a:srgbClr val="5B7178"/>
                </a:solidFill>
                <a:latin typeface="IBM Plex Sans" pitchFamily="34" charset="0"/>
                <a:ea typeface="IBM Plex Sans" pitchFamily="34" charset="-122"/>
                <a:cs typeface="IBM Plex Sans" pitchFamily="34" charset="-120"/>
              </a:rPr>
              <a:t>Capacity view built from Contributor Metrics entries.</a:t>
            </a:r>
            <a:endParaRPr lang="en-US" sz="1950" dirty="0"/>
          </a:p>
        </p:txBody>
      </p:sp>
      <p:sp>
        <p:nvSpPr>
          <p:cNvPr id="25" name="Shape 23"/>
          <p:cNvSpPr/>
          <p:nvPr/>
        </p:nvSpPr>
        <p:spPr>
          <a:xfrm>
            <a:off x="962025" y="6010126"/>
            <a:ext cx="5441900" cy="1931640"/>
          </a:xfrm>
          <a:prstGeom prst="rect">
            <a:avLst/>
          </a:prstGeom>
          <a:solidFill>
            <a:srgbClr val="FFFFFF"/>
          </a:solidFill>
          <a:ln/>
        </p:spPr>
      </p:sp>
      <p:sp>
        <p:nvSpPr>
          <p:cNvPr id="26" name="Text 24"/>
          <p:cNvSpPr/>
          <p:nvPr/>
        </p:nvSpPr>
        <p:spPr>
          <a:xfrm>
            <a:off x="1285875" y="6391126"/>
            <a:ext cx="5273620"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0F3133"/>
                </a:solidFill>
                <a:latin typeface="IBM Plex Sans" pitchFamily="34" charset="0"/>
                <a:ea typeface="IBM Plex Sans" pitchFamily="34" charset="-122"/>
                <a:cs typeface="IBM Plex Sans" pitchFamily="34" charset="-120"/>
              </a:rPr>
              <a:t>Past Reports</a:t>
            </a:r>
            <a:endParaRPr lang="en-US" sz="2100" dirty="0"/>
          </a:p>
        </p:txBody>
      </p:sp>
      <p:sp>
        <p:nvSpPr>
          <p:cNvPr id="27" name="Text 25"/>
          <p:cNvSpPr/>
          <p:nvPr/>
        </p:nvSpPr>
        <p:spPr>
          <a:xfrm>
            <a:off x="1285875" y="6867376"/>
            <a:ext cx="4938026" cy="731490"/>
          </a:xfrm>
          <a:prstGeom prst="rect">
            <a:avLst/>
          </a:prstGeom>
          <a:noFill/>
          <a:ln/>
        </p:spPr>
        <p:txBody>
          <a:bodyPr wrap="square" lIns="25400" tIns="25400" rIns="25400" bIns="25400" rtlCol="0" anchor="t">
            <a:normAutofit/>
          </a:bodyPr>
          <a:lstStyle/>
          <a:p>
            <a:pPr algn="l" indent="0" marL="0">
              <a:lnSpc>
                <a:spcPct val="108657"/>
              </a:lnSpc>
              <a:buNone/>
            </a:pPr>
            <a:r>
              <a:rPr lang="en-US" sz="1950" dirty="0">
                <a:solidFill>
                  <a:srgbClr val="5B7178"/>
                </a:solidFill>
                <a:latin typeface="IBM Plex Sans" pitchFamily="34" charset="0"/>
                <a:ea typeface="IBM Plex Sans" pitchFamily="34" charset="-122"/>
                <a:cs typeface="IBM Plex Sans" pitchFamily="34" charset="-120"/>
              </a:rPr>
              <a:t>Local archive of every generated report, plan, and saved Chat reply.</a:t>
            </a:r>
            <a:endParaRPr lang="en-US" sz="1950" dirty="0"/>
          </a:p>
        </p:txBody>
      </p:sp>
      <p:sp>
        <p:nvSpPr>
          <p:cNvPr id="28" name="Shape 26"/>
          <p:cNvSpPr/>
          <p:nvPr/>
        </p:nvSpPr>
        <p:spPr>
          <a:xfrm>
            <a:off x="6422975" y="6010126"/>
            <a:ext cx="5441975" cy="1931640"/>
          </a:xfrm>
          <a:prstGeom prst="rect">
            <a:avLst/>
          </a:prstGeom>
          <a:solidFill>
            <a:srgbClr val="FFFFFF"/>
          </a:solidFill>
          <a:ln/>
        </p:spPr>
      </p:sp>
      <p:sp>
        <p:nvSpPr>
          <p:cNvPr id="29" name="Text 27"/>
          <p:cNvSpPr/>
          <p:nvPr/>
        </p:nvSpPr>
        <p:spPr>
          <a:xfrm>
            <a:off x="6746825" y="6391126"/>
            <a:ext cx="5273702"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0F3133"/>
                </a:solidFill>
                <a:latin typeface="IBM Plex Sans" pitchFamily="34" charset="0"/>
                <a:ea typeface="IBM Plex Sans" pitchFamily="34" charset="-122"/>
                <a:cs typeface="IBM Plex Sans" pitchFamily="34" charset="-120"/>
              </a:rPr>
              <a:t>Chat</a:t>
            </a:r>
            <a:endParaRPr lang="en-US" sz="2100" dirty="0"/>
          </a:p>
        </p:txBody>
      </p:sp>
      <p:sp>
        <p:nvSpPr>
          <p:cNvPr id="30" name="Text 28"/>
          <p:cNvSpPr/>
          <p:nvPr/>
        </p:nvSpPr>
        <p:spPr>
          <a:xfrm>
            <a:off x="6746825" y="6867376"/>
            <a:ext cx="4938103" cy="731490"/>
          </a:xfrm>
          <a:prstGeom prst="rect">
            <a:avLst/>
          </a:prstGeom>
          <a:noFill/>
          <a:ln/>
        </p:spPr>
        <p:txBody>
          <a:bodyPr wrap="square" lIns="25400" tIns="25400" rIns="25400" bIns="25400" rtlCol="0" anchor="t">
            <a:normAutofit/>
          </a:bodyPr>
          <a:lstStyle/>
          <a:p>
            <a:pPr algn="l" indent="0" marL="0">
              <a:lnSpc>
                <a:spcPct val="108657"/>
              </a:lnSpc>
              <a:buNone/>
            </a:pPr>
            <a:r>
              <a:rPr lang="en-US" sz="1950" dirty="0">
                <a:solidFill>
                  <a:srgbClr val="5B7178"/>
                </a:solidFill>
                <a:latin typeface="IBM Plex Sans" pitchFamily="34" charset="0"/>
                <a:ea typeface="IBM Plex Sans" pitchFamily="34" charset="-122"/>
                <a:cs typeface="IBM Plex Sans" pitchFamily="34" charset="-120"/>
              </a:rPr>
              <a:t>Natural-language Jira questions, scoped by your presets and session data.</a:t>
            </a:r>
            <a:endParaRPr lang="en-US" sz="1950" dirty="0"/>
          </a:p>
        </p:txBody>
      </p:sp>
      <p:sp>
        <p:nvSpPr>
          <p:cNvPr id="31" name="Shape 29"/>
          <p:cNvSpPr/>
          <p:nvPr/>
        </p:nvSpPr>
        <p:spPr>
          <a:xfrm>
            <a:off x="11884000" y="6010126"/>
            <a:ext cx="5441900" cy="1931640"/>
          </a:xfrm>
          <a:prstGeom prst="rect">
            <a:avLst/>
          </a:prstGeom>
          <a:solidFill>
            <a:srgbClr val="FFFFFF"/>
          </a:solidFill>
          <a:ln/>
        </p:spPr>
      </p:sp>
      <p:sp>
        <p:nvSpPr>
          <p:cNvPr id="32" name="Text 30"/>
          <p:cNvSpPr/>
          <p:nvPr/>
        </p:nvSpPr>
        <p:spPr>
          <a:xfrm>
            <a:off x="12207850" y="6391126"/>
            <a:ext cx="5273620"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0F3133"/>
                </a:solidFill>
                <a:latin typeface="IBM Plex Sans" pitchFamily="34" charset="0"/>
                <a:ea typeface="IBM Plex Sans" pitchFamily="34" charset="-122"/>
                <a:cs typeface="IBM Plex Sans" pitchFamily="34" charset="-120"/>
              </a:rPr>
              <a:t>Settings</a:t>
            </a:r>
            <a:endParaRPr lang="en-US" sz="2100" dirty="0"/>
          </a:p>
        </p:txBody>
      </p:sp>
      <p:sp>
        <p:nvSpPr>
          <p:cNvPr id="33" name="Text 31"/>
          <p:cNvSpPr/>
          <p:nvPr/>
        </p:nvSpPr>
        <p:spPr>
          <a:xfrm>
            <a:off x="12207850" y="6867376"/>
            <a:ext cx="4938026" cy="731490"/>
          </a:xfrm>
          <a:prstGeom prst="rect">
            <a:avLst/>
          </a:prstGeom>
          <a:noFill/>
          <a:ln/>
        </p:spPr>
        <p:txBody>
          <a:bodyPr wrap="square" lIns="25400" tIns="25400" rIns="25400" bIns="25400" rtlCol="0" anchor="t">
            <a:normAutofit/>
          </a:bodyPr>
          <a:lstStyle/>
          <a:p>
            <a:pPr algn="l" indent="0" marL="0">
              <a:lnSpc>
                <a:spcPct val="108657"/>
              </a:lnSpc>
              <a:buNone/>
            </a:pPr>
            <a:r>
              <a:rPr lang="en-US" sz="1950" dirty="0">
                <a:solidFill>
                  <a:srgbClr val="5B7178"/>
                </a:solidFill>
                <a:latin typeface="IBM Plex Sans" pitchFamily="34" charset="0"/>
                <a:ea typeface="IBM Plex Sans" pitchFamily="34" charset="-122"/>
                <a:cs typeface="IBM Plex Sans" pitchFamily="34" charset="-120"/>
              </a:rPr>
              <a:t>Connection check, presets, field mappings, contributor entries.</a:t>
            </a:r>
            <a:endParaRPr lang="en-US" sz="1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9FB"/>
        </a:solidFill>
      </p:bgPr>
    </p:bg>
    <p:spTree>
      <p:nvGrpSpPr>
        <p:cNvPr id="1" name=""/>
        <p:cNvGrpSpPr/>
        <p:nvPr/>
      </p:nvGrpSpPr>
      <p:grpSpPr>
        <a:xfrm>
          <a:off x="0" y="0"/>
          <a:ext cx="0" cy="0"/>
          <a:chOff x="0" y="0"/>
          <a:chExt cx="0" cy="0"/>
        </a:xfrm>
      </p:grpSpPr>
      <p:sp>
        <p:nvSpPr>
          <p:cNvPr id="2" name="Text 0"/>
          <p:cNvSpPr/>
          <p:nvPr/>
        </p:nvSpPr>
        <p:spPr>
          <a:xfrm>
            <a:off x="952500" y="952500"/>
            <a:ext cx="18021300" cy="828675"/>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0F3133"/>
                </a:solidFill>
                <a:latin typeface="IBM Plex Sans" pitchFamily="34" charset="0"/>
                <a:ea typeface="IBM Plex Sans" pitchFamily="34" charset="-122"/>
                <a:cs typeface="IBM Plex Sans" pitchFamily="34" charset="-120"/>
              </a:rPr>
              <a:t>The Daily Loop</a:t>
            </a:r>
            <a:endParaRPr lang="en-US" sz="4800" dirty="0"/>
          </a:p>
        </p:txBody>
      </p:sp>
      <p:sp>
        <p:nvSpPr>
          <p:cNvPr id="3" name="Text 1"/>
          <p:cNvSpPr/>
          <p:nvPr/>
        </p:nvSpPr>
        <p:spPr>
          <a:xfrm>
            <a:off x="952500" y="1933575"/>
            <a:ext cx="14668500" cy="491430"/>
          </a:xfrm>
          <a:prstGeom prst="rect">
            <a:avLst/>
          </a:prstGeom>
          <a:noFill/>
          <a:ln/>
        </p:spPr>
        <p:txBody>
          <a:bodyPr wrap="square" lIns="25400" tIns="25400" rIns="25400" bIns="25400" rtlCol="0" anchor="t">
            <a:normAutofit/>
          </a:bodyPr>
          <a:lstStyle/>
          <a:p>
            <a:pPr algn="l" indent="0" marL="0">
              <a:lnSpc>
                <a:spcPct val="106966"/>
              </a:lnSpc>
              <a:buNone/>
            </a:pPr>
            <a:r>
              <a:rPr lang="en-US" sz="2550" dirty="0">
                <a:solidFill>
                  <a:srgbClr val="5B7178"/>
                </a:solidFill>
                <a:latin typeface="IBM Plex Sans" pitchFamily="34" charset="0"/>
                <a:ea typeface="IBM Plex Sans" pitchFamily="34" charset="-122"/>
                <a:cs typeface="IBM Plex Sans" pitchFamily="34" charset="-120"/>
              </a:rPr>
              <a:t>One pass through Task Management, start to finish, without leaving the page.</a:t>
            </a:r>
            <a:endParaRPr lang="en-US" sz="2550" dirty="0"/>
          </a:p>
        </p:txBody>
      </p:sp>
      <p:sp>
        <p:nvSpPr>
          <p:cNvPr id="4" name="Shape 2"/>
          <p:cNvSpPr/>
          <p:nvPr/>
        </p:nvSpPr>
        <p:spPr>
          <a:xfrm>
            <a:off x="952500" y="3110805"/>
            <a:ext cx="3910013" cy="2559248"/>
          </a:xfrm>
          <a:prstGeom prst="roundRect">
            <a:avLst>
              <a:gd name="adj" fmla="val 4466"/>
            </a:avLst>
          </a:prstGeom>
          <a:solidFill>
            <a:srgbClr val="FFFFFF"/>
          </a:solidFill>
          <a:ln w="9525">
            <a:solidFill>
              <a:srgbClr val="D9E3EA"/>
            </a:solidFill>
            <a:prstDash val="solid"/>
          </a:ln>
          <a:effectLst>
            <a:outerShdw sx="100000" sy="100000" kx="0" ky="0" algn="bl" rotWithShape="0" blurRad="19050" dist="9525" dir="5400000">
              <a:srgbClr val="0F3133">
                <a:alpha val="6000"/>
              </a:srgbClr>
            </a:outerShdw>
          </a:effectLst>
        </p:spPr>
      </p:sp>
      <p:sp>
        <p:nvSpPr>
          <p:cNvPr id="5" name="Shape 3"/>
          <p:cNvSpPr/>
          <p:nvPr/>
        </p:nvSpPr>
        <p:spPr>
          <a:xfrm>
            <a:off x="1228725" y="3444180"/>
            <a:ext cx="495300" cy="495300"/>
          </a:xfrm>
          <a:prstGeom prst="ellipse">
            <a:avLst/>
          </a:prstGeom>
          <a:solidFill>
            <a:srgbClr val="EEF3F6"/>
          </a:solidFill>
          <a:ln/>
        </p:spPr>
      </p:sp>
      <p:sp>
        <p:nvSpPr>
          <p:cNvPr id="6" name="Text 4"/>
          <p:cNvSpPr/>
          <p:nvPr/>
        </p:nvSpPr>
        <p:spPr>
          <a:xfrm>
            <a:off x="1190625" y="3444180"/>
            <a:ext cx="571500" cy="533400"/>
          </a:xfrm>
          <a:prstGeom prst="rect">
            <a:avLst/>
          </a:prstGeom>
          <a:noFill/>
          <a:ln/>
        </p:spPr>
        <p:txBody>
          <a:bodyPr wrap="square" lIns="25400" tIns="25400" rIns="25400" bIns="25400" rtlCol="0" anchor="ctr">
            <a:normAutofit/>
          </a:bodyPr>
          <a:lstStyle/>
          <a:p>
            <a:pPr algn="ctr" indent="0" marL="0">
              <a:buNone/>
            </a:pPr>
            <a:r>
              <a:rPr lang="en-US" sz="1800" b="1" dirty="0">
                <a:solidFill>
                  <a:srgbClr val="5B7178"/>
                </a:solidFill>
                <a:latin typeface="IBM Plex Mono" pitchFamily="34" charset="0"/>
                <a:ea typeface="IBM Plex Mono" pitchFamily="34" charset="-122"/>
                <a:cs typeface="IBM Plex Mono" pitchFamily="34" charset="-120"/>
              </a:rPr>
              <a:t>1</a:t>
            </a:r>
            <a:endParaRPr lang="en-US" sz="1800" dirty="0"/>
          </a:p>
        </p:txBody>
      </p:sp>
      <p:sp>
        <p:nvSpPr>
          <p:cNvPr id="7" name="Text 5"/>
          <p:cNvSpPr/>
          <p:nvPr/>
        </p:nvSpPr>
        <p:spPr>
          <a:xfrm>
            <a:off x="1228725" y="4168080"/>
            <a:ext cx="3693319" cy="395288"/>
          </a:xfrm>
          <a:prstGeom prst="rect">
            <a:avLst/>
          </a:prstGeom>
          <a:noFill/>
          <a:ln/>
        </p:spPr>
        <p:txBody>
          <a:bodyPr wrap="square" lIns="25400" tIns="25400" rIns="25400" bIns="25400" rtlCol="0" anchor="t">
            <a:normAutofit/>
          </a:bodyPr>
          <a:lstStyle/>
          <a:p>
            <a:pPr algn="l" indent="0" marL="0">
              <a:lnSpc>
                <a:spcPct val="97403"/>
              </a:lnSpc>
              <a:buNone/>
            </a:pPr>
            <a:r>
              <a:rPr lang="en-US" sz="2250" b="1" dirty="0">
                <a:solidFill>
                  <a:srgbClr val="0F3133"/>
                </a:solidFill>
                <a:latin typeface="IBM Plex Sans" pitchFamily="34" charset="0"/>
                <a:ea typeface="IBM Plex Sans" pitchFamily="34" charset="-122"/>
                <a:cs typeface="IBM Plex Sans" pitchFamily="34" charset="-120"/>
              </a:rPr>
              <a:t>Run JQL</a:t>
            </a:r>
            <a:endParaRPr lang="en-US" sz="2250" dirty="0"/>
          </a:p>
        </p:txBody>
      </p:sp>
      <p:sp>
        <p:nvSpPr>
          <p:cNvPr id="8" name="Text 6"/>
          <p:cNvSpPr/>
          <p:nvPr/>
        </p:nvSpPr>
        <p:spPr>
          <a:xfrm>
            <a:off x="1228725" y="4658618"/>
            <a:ext cx="3458289" cy="678061"/>
          </a:xfrm>
          <a:prstGeom prst="rect">
            <a:avLst/>
          </a:prstGeom>
          <a:noFill/>
          <a:ln/>
        </p:spPr>
        <p:txBody>
          <a:bodyPr wrap="square" lIns="25400" tIns="25400" rIns="25400" bIns="25400" rtlCol="0" anchor="t">
            <a:normAutofit/>
          </a:bodyPr>
          <a:lstStyle/>
          <a:p>
            <a:pPr algn="l" indent="0" marL="0">
              <a:lnSpc>
                <a:spcPct val="108387"/>
              </a:lnSpc>
              <a:buNone/>
            </a:pPr>
            <a:r>
              <a:rPr lang="en-US" sz="1800" dirty="0">
                <a:solidFill>
                  <a:srgbClr val="5B7178"/>
                </a:solidFill>
                <a:latin typeface="IBM Plex Sans" pitchFamily="34" charset="0"/>
                <a:ea typeface="IBM Plex Sans" pitchFamily="34" charset="-122"/>
                <a:cs typeface="IBM Plex Sans" pitchFamily="34" charset="-120"/>
              </a:rPr>
              <a:t>Up to five saved queries load fresh from Jira.</a:t>
            </a:r>
            <a:endParaRPr lang="en-US" sz="1800" dirty="0"/>
          </a:p>
        </p:txBody>
      </p:sp>
      <p:sp>
        <p:nvSpPr>
          <p:cNvPr id="9" name="Shape 7"/>
          <p:cNvSpPr/>
          <p:nvPr/>
        </p:nvSpPr>
        <p:spPr>
          <a:xfrm>
            <a:off x="5110163" y="3110805"/>
            <a:ext cx="3910013" cy="2559248"/>
          </a:xfrm>
          <a:prstGeom prst="roundRect">
            <a:avLst>
              <a:gd name="adj" fmla="val 4466"/>
            </a:avLst>
          </a:prstGeom>
          <a:solidFill>
            <a:srgbClr val="FFFFFF"/>
          </a:solidFill>
          <a:ln w="9525">
            <a:solidFill>
              <a:srgbClr val="D9E3EA"/>
            </a:solidFill>
            <a:prstDash val="solid"/>
          </a:ln>
          <a:effectLst>
            <a:outerShdw sx="100000" sy="100000" kx="0" ky="0" algn="bl" rotWithShape="0" blurRad="19050" dist="9525" dir="5400000">
              <a:srgbClr val="0F3133">
                <a:alpha val="6000"/>
              </a:srgbClr>
            </a:outerShdw>
          </a:effectLst>
        </p:spPr>
      </p:sp>
      <p:sp>
        <p:nvSpPr>
          <p:cNvPr id="10" name="Shape 8"/>
          <p:cNvSpPr/>
          <p:nvPr/>
        </p:nvSpPr>
        <p:spPr>
          <a:xfrm>
            <a:off x="5386388" y="3444180"/>
            <a:ext cx="495300" cy="495300"/>
          </a:xfrm>
          <a:prstGeom prst="ellipse">
            <a:avLst/>
          </a:prstGeom>
          <a:solidFill>
            <a:srgbClr val="EEF3F6"/>
          </a:solidFill>
          <a:ln/>
        </p:spPr>
      </p:sp>
      <p:sp>
        <p:nvSpPr>
          <p:cNvPr id="11" name="Text 9"/>
          <p:cNvSpPr/>
          <p:nvPr/>
        </p:nvSpPr>
        <p:spPr>
          <a:xfrm>
            <a:off x="5348288" y="3444180"/>
            <a:ext cx="571500" cy="533400"/>
          </a:xfrm>
          <a:prstGeom prst="rect">
            <a:avLst/>
          </a:prstGeom>
          <a:noFill/>
          <a:ln/>
        </p:spPr>
        <p:txBody>
          <a:bodyPr wrap="square" lIns="25400" tIns="25400" rIns="25400" bIns="25400" rtlCol="0" anchor="ctr">
            <a:normAutofit/>
          </a:bodyPr>
          <a:lstStyle/>
          <a:p>
            <a:pPr algn="ctr" indent="0" marL="0">
              <a:buNone/>
            </a:pPr>
            <a:r>
              <a:rPr lang="en-US" sz="1800" b="1" dirty="0">
                <a:solidFill>
                  <a:srgbClr val="5B7178"/>
                </a:solidFill>
                <a:latin typeface="IBM Plex Mono" pitchFamily="34" charset="0"/>
                <a:ea typeface="IBM Plex Mono" pitchFamily="34" charset="-122"/>
                <a:cs typeface="IBM Plex Mono" pitchFamily="34" charset="-120"/>
              </a:rPr>
              <a:t>2</a:t>
            </a:r>
            <a:endParaRPr lang="en-US" sz="1800" dirty="0"/>
          </a:p>
        </p:txBody>
      </p:sp>
      <p:sp>
        <p:nvSpPr>
          <p:cNvPr id="12" name="Text 10"/>
          <p:cNvSpPr/>
          <p:nvPr/>
        </p:nvSpPr>
        <p:spPr>
          <a:xfrm>
            <a:off x="5386388" y="4168080"/>
            <a:ext cx="3693319" cy="395288"/>
          </a:xfrm>
          <a:prstGeom prst="rect">
            <a:avLst/>
          </a:prstGeom>
          <a:noFill/>
          <a:ln/>
        </p:spPr>
        <p:txBody>
          <a:bodyPr wrap="square" lIns="25400" tIns="25400" rIns="25400" bIns="25400" rtlCol="0" anchor="t">
            <a:normAutofit/>
          </a:bodyPr>
          <a:lstStyle/>
          <a:p>
            <a:pPr algn="l" indent="0" marL="0">
              <a:lnSpc>
                <a:spcPct val="97403"/>
              </a:lnSpc>
              <a:buNone/>
            </a:pPr>
            <a:r>
              <a:rPr lang="en-US" sz="2250" b="1" dirty="0">
                <a:solidFill>
                  <a:srgbClr val="0F3133"/>
                </a:solidFill>
                <a:latin typeface="IBM Plex Sans" pitchFamily="34" charset="0"/>
                <a:ea typeface="IBM Plex Sans" pitchFamily="34" charset="-122"/>
                <a:cs typeface="IBM Plex Sans" pitchFamily="34" charset="-120"/>
              </a:rPr>
              <a:t>Triage the table</a:t>
            </a:r>
            <a:endParaRPr lang="en-US" sz="2250" dirty="0"/>
          </a:p>
        </p:txBody>
      </p:sp>
      <p:sp>
        <p:nvSpPr>
          <p:cNvPr id="13" name="Text 11"/>
          <p:cNvSpPr/>
          <p:nvPr/>
        </p:nvSpPr>
        <p:spPr>
          <a:xfrm>
            <a:off x="5386388" y="4658618"/>
            <a:ext cx="3458289" cy="678061"/>
          </a:xfrm>
          <a:prstGeom prst="rect">
            <a:avLst/>
          </a:prstGeom>
          <a:noFill/>
          <a:ln/>
        </p:spPr>
        <p:txBody>
          <a:bodyPr wrap="square" lIns="25400" tIns="25400" rIns="25400" bIns="25400" rtlCol="0" anchor="t">
            <a:normAutofit/>
          </a:bodyPr>
          <a:lstStyle/>
          <a:p>
            <a:pPr algn="l" indent="0" marL="0">
              <a:lnSpc>
                <a:spcPct val="108387"/>
              </a:lnSpc>
              <a:buNone/>
            </a:pPr>
            <a:r>
              <a:rPr lang="en-US" sz="1800" dirty="0">
                <a:solidFill>
                  <a:srgbClr val="5B7178"/>
                </a:solidFill>
                <a:latin typeface="IBM Plex Sans" pitchFamily="34" charset="0"/>
                <a:ea typeface="IBM Plex Sans" pitchFamily="34" charset="-122"/>
                <a:cs typeface="IBM Plex Sans" pitchFamily="34" charset="-120"/>
              </a:rPr>
              <a:t>Filter by key, status, or assignee. Sort by your priority.</a:t>
            </a:r>
            <a:endParaRPr lang="en-US" sz="1800" dirty="0"/>
          </a:p>
        </p:txBody>
      </p:sp>
      <p:sp>
        <p:nvSpPr>
          <p:cNvPr id="14" name="Shape 12"/>
          <p:cNvSpPr/>
          <p:nvPr/>
        </p:nvSpPr>
        <p:spPr>
          <a:xfrm>
            <a:off x="9267825" y="3034605"/>
            <a:ext cx="3910013" cy="2559248"/>
          </a:xfrm>
          <a:prstGeom prst="roundRect">
            <a:avLst>
              <a:gd name="adj" fmla="val 4466"/>
            </a:avLst>
          </a:prstGeom>
          <a:solidFill>
            <a:srgbClr val="FFFFFF"/>
          </a:solidFill>
          <a:ln w="9525">
            <a:solidFill>
              <a:srgbClr val="0C93D9"/>
            </a:solidFill>
            <a:prstDash val="solid"/>
          </a:ln>
          <a:effectLst>
            <a:outerShdw sx="100000" sy="100000" kx="0" ky="0" algn="bl" rotWithShape="0" blurRad="247650" dist="95250" dir="5400000">
              <a:srgbClr val="0C93D9">
                <a:alpha val="22000"/>
              </a:srgbClr>
            </a:outerShdw>
          </a:effectLst>
        </p:spPr>
      </p:sp>
      <p:sp>
        <p:nvSpPr>
          <p:cNvPr id="15" name="Shape 13"/>
          <p:cNvSpPr/>
          <p:nvPr/>
        </p:nvSpPr>
        <p:spPr>
          <a:xfrm>
            <a:off x="9544050" y="3367980"/>
            <a:ext cx="495300" cy="495300"/>
          </a:xfrm>
          <a:prstGeom prst="ellipse">
            <a:avLst/>
          </a:prstGeom>
          <a:solidFill>
            <a:srgbClr val="0C93D9"/>
          </a:solidFill>
          <a:ln/>
        </p:spPr>
      </p:sp>
      <p:sp>
        <p:nvSpPr>
          <p:cNvPr id="16" name="Text 14"/>
          <p:cNvSpPr/>
          <p:nvPr/>
        </p:nvSpPr>
        <p:spPr>
          <a:xfrm>
            <a:off x="9505950" y="3367980"/>
            <a:ext cx="571500" cy="5334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FFFF"/>
                </a:solidFill>
                <a:latin typeface="IBM Plex Mono" pitchFamily="34" charset="0"/>
                <a:ea typeface="IBM Plex Mono" pitchFamily="34" charset="-122"/>
                <a:cs typeface="IBM Plex Mono" pitchFamily="34" charset="-120"/>
              </a:rPr>
              <a:t>3</a:t>
            </a:r>
            <a:endParaRPr lang="en-US" sz="1800" dirty="0"/>
          </a:p>
        </p:txBody>
      </p:sp>
      <p:sp>
        <p:nvSpPr>
          <p:cNvPr id="17" name="Text 15"/>
          <p:cNvSpPr/>
          <p:nvPr/>
        </p:nvSpPr>
        <p:spPr>
          <a:xfrm>
            <a:off x="9544050" y="4091880"/>
            <a:ext cx="3693319" cy="395288"/>
          </a:xfrm>
          <a:prstGeom prst="rect">
            <a:avLst/>
          </a:prstGeom>
          <a:noFill/>
          <a:ln/>
        </p:spPr>
        <p:txBody>
          <a:bodyPr wrap="square" lIns="25400" tIns="25400" rIns="25400" bIns="25400" rtlCol="0" anchor="t">
            <a:normAutofit/>
          </a:bodyPr>
          <a:lstStyle/>
          <a:p>
            <a:pPr algn="l" indent="0" marL="0">
              <a:lnSpc>
                <a:spcPct val="97403"/>
              </a:lnSpc>
              <a:buNone/>
            </a:pPr>
            <a:r>
              <a:rPr lang="en-US" sz="2250" b="1" dirty="0">
                <a:solidFill>
                  <a:srgbClr val="0F3133"/>
                </a:solidFill>
                <a:latin typeface="IBM Plex Sans" pitchFamily="34" charset="0"/>
                <a:ea typeface="IBM Plex Sans" pitchFamily="34" charset="-122"/>
                <a:cs typeface="IBM Plex Sans" pitchFamily="34" charset="-120"/>
              </a:rPr>
              <a:t>Update in place</a:t>
            </a:r>
            <a:endParaRPr lang="en-US" sz="2250" dirty="0"/>
          </a:p>
        </p:txBody>
      </p:sp>
      <p:sp>
        <p:nvSpPr>
          <p:cNvPr id="18" name="Text 16"/>
          <p:cNvSpPr/>
          <p:nvPr/>
        </p:nvSpPr>
        <p:spPr>
          <a:xfrm>
            <a:off x="9544050" y="4582418"/>
            <a:ext cx="3458289" cy="678061"/>
          </a:xfrm>
          <a:prstGeom prst="rect">
            <a:avLst/>
          </a:prstGeom>
          <a:noFill/>
          <a:ln/>
        </p:spPr>
        <p:txBody>
          <a:bodyPr wrap="square" lIns="25400" tIns="25400" rIns="25400" bIns="25400" rtlCol="0" anchor="t">
            <a:normAutofit/>
          </a:bodyPr>
          <a:lstStyle/>
          <a:p>
            <a:pPr algn="l" indent="0" marL="0">
              <a:lnSpc>
                <a:spcPct val="108387"/>
              </a:lnSpc>
              <a:buNone/>
            </a:pPr>
            <a:r>
              <a:rPr lang="en-US" sz="1800" dirty="0">
                <a:solidFill>
                  <a:srgbClr val="5B7178"/>
                </a:solidFill>
                <a:latin typeface="IBM Plex Sans" pitchFamily="34" charset="0"/>
                <a:ea typeface="IBM Plex Sans" pitchFamily="34" charset="-122"/>
                <a:cs typeface="IBM Plex Sans" pitchFamily="34" charset="-120"/>
              </a:rPr>
              <a:t>Status and assignee changes go straight to Jira from the row.</a:t>
            </a:r>
            <a:endParaRPr lang="en-US" sz="1800" dirty="0"/>
          </a:p>
        </p:txBody>
      </p:sp>
      <p:sp>
        <p:nvSpPr>
          <p:cNvPr id="19" name="Shape 17"/>
          <p:cNvSpPr/>
          <p:nvPr/>
        </p:nvSpPr>
        <p:spPr>
          <a:xfrm>
            <a:off x="13425488" y="3110805"/>
            <a:ext cx="3910013" cy="2559248"/>
          </a:xfrm>
          <a:prstGeom prst="roundRect">
            <a:avLst>
              <a:gd name="adj" fmla="val 4466"/>
            </a:avLst>
          </a:prstGeom>
          <a:solidFill>
            <a:srgbClr val="FFFFFF"/>
          </a:solidFill>
          <a:ln w="9525">
            <a:solidFill>
              <a:srgbClr val="D9E3EA"/>
            </a:solidFill>
            <a:prstDash val="solid"/>
          </a:ln>
          <a:effectLst>
            <a:outerShdw sx="100000" sy="100000" kx="0" ky="0" algn="bl" rotWithShape="0" blurRad="19050" dist="9525" dir="5400000">
              <a:srgbClr val="0F3133">
                <a:alpha val="6000"/>
              </a:srgbClr>
            </a:outerShdw>
          </a:effectLst>
        </p:spPr>
      </p:sp>
      <p:sp>
        <p:nvSpPr>
          <p:cNvPr id="20" name="Shape 18"/>
          <p:cNvSpPr/>
          <p:nvPr/>
        </p:nvSpPr>
        <p:spPr>
          <a:xfrm>
            <a:off x="13701713" y="3444180"/>
            <a:ext cx="495300" cy="495300"/>
          </a:xfrm>
          <a:prstGeom prst="ellipse">
            <a:avLst/>
          </a:prstGeom>
          <a:solidFill>
            <a:srgbClr val="EEF3F6"/>
          </a:solidFill>
          <a:ln/>
        </p:spPr>
      </p:sp>
      <p:sp>
        <p:nvSpPr>
          <p:cNvPr id="21" name="Text 19"/>
          <p:cNvSpPr/>
          <p:nvPr/>
        </p:nvSpPr>
        <p:spPr>
          <a:xfrm>
            <a:off x="13663613" y="3444180"/>
            <a:ext cx="571500" cy="533400"/>
          </a:xfrm>
          <a:prstGeom prst="rect">
            <a:avLst/>
          </a:prstGeom>
          <a:noFill/>
          <a:ln/>
        </p:spPr>
        <p:txBody>
          <a:bodyPr wrap="square" lIns="25400" tIns="25400" rIns="25400" bIns="25400" rtlCol="0" anchor="ctr">
            <a:normAutofit/>
          </a:bodyPr>
          <a:lstStyle/>
          <a:p>
            <a:pPr algn="ctr" indent="0" marL="0">
              <a:buNone/>
            </a:pPr>
            <a:r>
              <a:rPr lang="en-US" sz="1800" b="1" dirty="0">
                <a:solidFill>
                  <a:srgbClr val="5B7178"/>
                </a:solidFill>
                <a:latin typeface="IBM Plex Mono" pitchFamily="34" charset="0"/>
                <a:ea typeface="IBM Plex Mono" pitchFamily="34" charset="-122"/>
                <a:cs typeface="IBM Plex Mono" pitchFamily="34" charset="-120"/>
              </a:rPr>
              <a:t>4</a:t>
            </a:r>
            <a:endParaRPr lang="en-US" sz="1800" dirty="0"/>
          </a:p>
        </p:txBody>
      </p:sp>
      <p:sp>
        <p:nvSpPr>
          <p:cNvPr id="22" name="Text 20"/>
          <p:cNvSpPr/>
          <p:nvPr/>
        </p:nvSpPr>
        <p:spPr>
          <a:xfrm>
            <a:off x="13701713" y="4168080"/>
            <a:ext cx="3693319" cy="395288"/>
          </a:xfrm>
          <a:prstGeom prst="rect">
            <a:avLst/>
          </a:prstGeom>
          <a:noFill/>
          <a:ln/>
        </p:spPr>
        <p:txBody>
          <a:bodyPr wrap="square" lIns="25400" tIns="25400" rIns="25400" bIns="25400" rtlCol="0" anchor="t">
            <a:normAutofit/>
          </a:bodyPr>
          <a:lstStyle/>
          <a:p>
            <a:pPr algn="l" indent="0" marL="0">
              <a:lnSpc>
                <a:spcPct val="97403"/>
              </a:lnSpc>
              <a:buNone/>
            </a:pPr>
            <a:r>
              <a:rPr lang="en-US" sz="2250" b="1" dirty="0">
                <a:solidFill>
                  <a:srgbClr val="0F3133"/>
                </a:solidFill>
                <a:latin typeface="IBM Plex Sans" pitchFamily="34" charset="0"/>
                <a:ea typeface="IBM Plex Sans" pitchFamily="34" charset="-122"/>
                <a:cs typeface="IBM Plex Sans" pitchFamily="34" charset="-120"/>
              </a:rPr>
              <a:t>Note, then push</a:t>
            </a:r>
            <a:endParaRPr lang="en-US" sz="2250" dirty="0"/>
          </a:p>
        </p:txBody>
      </p:sp>
      <p:sp>
        <p:nvSpPr>
          <p:cNvPr id="23" name="Text 21"/>
          <p:cNvSpPr/>
          <p:nvPr/>
        </p:nvSpPr>
        <p:spPr>
          <a:xfrm>
            <a:off x="13701713" y="4658618"/>
            <a:ext cx="3458289" cy="678061"/>
          </a:xfrm>
          <a:prstGeom prst="rect">
            <a:avLst/>
          </a:prstGeom>
          <a:noFill/>
          <a:ln/>
        </p:spPr>
        <p:txBody>
          <a:bodyPr wrap="square" lIns="25400" tIns="25400" rIns="25400" bIns="25400" rtlCol="0" anchor="t">
            <a:normAutofit/>
          </a:bodyPr>
          <a:lstStyle/>
          <a:p>
            <a:pPr algn="l" indent="0" marL="0">
              <a:lnSpc>
                <a:spcPct val="108387"/>
              </a:lnSpc>
              <a:buNone/>
            </a:pPr>
            <a:r>
              <a:rPr lang="en-US" sz="1800" dirty="0">
                <a:solidFill>
                  <a:srgbClr val="5B7178"/>
                </a:solidFill>
                <a:latin typeface="IBM Plex Sans" pitchFamily="34" charset="0"/>
                <a:ea typeface="IBM Plex Sans" pitchFamily="34" charset="-122"/>
                <a:cs typeface="IBM Plex Sans" pitchFamily="34" charset="-120"/>
              </a:rPr>
              <a:t>Notes and files save locally, then post as a Jira comment.</a:t>
            </a:r>
            <a:endParaRPr lang="en-US" sz="1800" dirty="0"/>
          </a:p>
        </p:txBody>
      </p:sp>
      <p:sp>
        <p:nvSpPr>
          <p:cNvPr id="24" name="Shape 22"/>
          <p:cNvSpPr/>
          <p:nvPr/>
        </p:nvSpPr>
        <p:spPr>
          <a:xfrm>
            <a:off x="952500" y="6136779"/>
            <a:ext cx="16383000" cy="28575"/>
          </a:xfrm>
          <a:prstGeom prst="rect">
            <a:avLst/>
          </a:prstGeom>
          <a:solidFill>
            <a:srgbClr val="D9E3EA"/>
          </a:solidFill>
          <a:ln/>
        </p:spPr>
      </p:sp>
      <p:sp>
        <p:nvSpPr>
          <p:cNvPr id="25" name="Shape 23"/>
          <p:cNvSpPr/>
          <p:nvPr/>
        </p:nvSpPr>
        <p:spPr>
          <a:xfrm>
            <a:off x="11458426" y="6051054"/>
            <a:ext cx="190500" cy="190500"/>
          </a:xfrm>
          <a:prstGeom prst="ellipse">
            <a:avLst/>
          </a:prstGeom>
          <a:solidFill>
            <a:srgbClr val="FDD219"/>
          </a:solidFill>
          <a:ln/>
        </p:spPr>
      </p:sp>
      <p:sp>
        <p:nvSpPr>
          <p:cNvPr id="26" name="Text 24"/>
          <p:cNvSpPr/>
          <p:nvPr/>
        </p:nvSpPr>
        <p:spPr>
          <a:xfrm>
            <a:off x="952500" y="6908304"/>
            <a:ext cx="18021300" cy="411435"/>
          </a:xfrm>
          <a:prstGeom prst="rect">
            <a:avLst/>
          </a:prstGeom>
          <a:noFill/>
          <a:ln/>
        </p:spPr>
        <p:txBody>
          <a:bodyPr wrap="square" lIns="25400" tIns="25400" rIns="25400" bIns="25400" rtlCol="0" anchor="t">
            <a:normAutofit/>
          </a:bodyPr>
          <a:lstStyle/>
          <a:p>
            <a:pPr algn="l" indent="0" marL="0">
              <a:lnSpc>
                <a:spcPct val="108889"/>
              </a:lnSpc>
              <a:buNone/>
            </a:pPr>
            <a:r>
              <a:rPr lang="en-US" sz="2100" dirty="0">
                <a:solidFill>
                  <a:srgbClr val="5B7178"/>
                </a:solidFill>
                <a:latin typeface="IBM Plex Sans" pitchFamily="34" charset="0"/>
                <a:ea typeface="IBM Plex Sans" pitchFamily="34" charset="-122"/>
                <a:cs typeface="IBM Plex Sans" pitchFamily="34" charset="-120"/>
              </a:rPr>
              <a:t>Refreshes, reports, and week plans keep running if you switch tabs — a status pill in the nav shows what is in progress.</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952500"/>
            <a:ext cx="6705600" cy="828675"/>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0F3133"/>
                </a:solidFill>
                <a:latin typeface="IBM Plex Sans" pitchFamily="34" charset="0"/>
                <a:ea typeface="IBM Plex Sans" pitchFamily="34" charset="-122"/>
                <a:cs typeface="IBM Plex Sans" pitchFamily="34" charset="-120"/>
              </a:rPr>
              <a:t>Task Management</a:t>
            </a:r>
            <a:endParaRPr lang="en-US" sz="4800" dirty="0"/>
          </a:p>
        </p:txBody>
      </p:sp>
      <p:sp>
        <p:nvSpPr>
          <p:cNvPr id="3" name="Text 1"/>
          <p:cNvSpPr/>
          <p:nvPr/>
        </p:nvSpPr>
        <p:spPr>
          <a:xfrm>
            <a:off x="952500" y="1971675"/>
            <a:ext cx="6278880" cy="866775"/>
          </a:xfrm>
          <a:prstGeom prst="rect">
            <a:avLst/>
          </a:prstGeom>
          <a:noFill/>
          <a:ln/>
        </p:spPr>
        <p:txBody>
          <a:bodyPr wrap="square" lIns="25400" tIns="25400" rIns="25400" bIns="25400" rtlCol="0" anchor="t">
            <a:normAutofit/>
          </a:bodyPr>
          <a:lstStyle/>
          <a:p>
            <a:pPr algn="l" indent="0" marL="0">
              <a:lnSpc>
                <a:spcPct val="112987"/>
              </a:lnSpc>
              <a:buNone/>
            </a:pPr>
            <a:r>
              <a:rPr lang="en-US" sz="2250" dirty="0">
                <a:solidFill>
                  <a:srgbClr val="5B7178"/>
                </a:solidFill>
                <a:latin typeface="IBM Plex Sans" pitchFamily="34" charset="0"/>
                <a:ea typeface="IBM Plex Sans" pitchFamily="34" charset="-122"/>
                <a:cs typeface="IBM Plex Sans" pitchFamily="34" charset="-120"/>
              </a:rPr>
              <a:t>The daily driver. Everything for one issue lives in one row.</a:t>
            </a:r>
            <a:endParaRPr lang="en-US" sz="2250" dirty="0"/>
          </a:p>
        </p:txBody>
      </p:sp>
      <p:sp>
        <p:nvSpPr>
          <p:cNvPr id="4" name="Text 2"/>
          <p:cNvSpPr/>
          <p:nvPr/>
        </p:nvSpPr>
        <p:spPr>
          <a:xfrm>
            <a:off x="779145" y="3181350"/>
            <a:ext cx="6345555" cy="4491856"/>
          </a:xfrm>
          <a:prstGeom prst="rect">
            <a:avLst/>
          </a:prstGeom>
          <a:noFill/>
          <a:ln/>
        </p:spPr>
        <p:txBody>
          <a:bodyPr wrap="square" lIns="25400" tIns="25400" rIns="25400" bIns="25400" rtlCol="0" anchor="t">
            <a:normAutofit/>
          </a:bodyPr>
          <a:lstStyle/>
          <a:p>
            <a:pPr algn="l" indent="0" marL="0">
              <a:lnSpc>
                <a:spcPct val="108657"/>
              </a:lnSpc>
              <a:buNone/>
            </a:pPr>
            <a:r>
              <a:rPr lang="en-US" sz="1950" dirty="0">
                <a:solidFill>
                  <a:srgbClr val="0F3133"/>
                </a:solidFill>
                <a:latin typeface="IBM Plex Sans" pitchFamily="34" charset="0"/>
                <a:ea typeface="IBM Plex Sans" pitchFamily="34" charset="-122"/>
                <a:cs typeface="IBM Plex Sans" pitchFamily="34" charset="-120"/>
              </a:rPr>
              <a:t>Per-query count chips — total, open, overdue, in progress</a:t>
            </a:r>
            <a:endParaRPr lang="en-US" sz="1950" dirty="0"/>
          </a:p>
          <a:p>
            <a:pPr algn="l" indent="0" marL="0">
              <a:lnSpc>
                <a:spcPct val="108657"/>
              </a:lnSpc>
              <a:buNone/>
            </a:pPr>
            <a:r>
              <a:rPr lang="en-US" sz="1950" dirty="0">
                <a:solidFill>
                  <a:srgbClr val="0F3133"/>
                </a:solidFill>
                <a:latin typeface="IBM Plex Sans" pitchFamily="34" charset="0"/>
                <a:ea typeface="IBM Plex Sans" pitchFamily="34" charset="-122"/>
                <a:cs typeface="IBM Plex Sans" pitchFamily="34" charset="-120"/>
              </a:rPr>
              <a:t>Loaded X of Y matched, with Load remaining for the rest</a:t>
            </a:r>
            <a:endParaRPr lang="en-US" sz="1950" dirty="0"/>
          </a:p>
          <a:p>
            <a:pPr algn="l" indent="0" marL="0">
              <a:lnSpc>
                <a:spcPct val="108657"/>
              </a:lnSpc>
              <a:buNone/>
            </a:pPr>
            <a:r>
              <a:rPr lang="en-US" sz="1950" dirty="0">
                <a:solidFill>
                  <a:srgbClr val="0F3133"/>
                </a:solidFill>
                <a:latin typeface="IBM Plex Sans" pitchFamily="34" charset="0"/>
                <a:ea typeface="IBM Plex Sans" pitchFamily="34" charset="-122"/>
                <a:cs typeface="IBM Plex Sans" pitchFamily="34" charset="-120"/>
              </a:rPr>
              <a:t>Status and assignee dropdowns that write back to Jira</a:t>
            </a:r>
            <a:endParaRPr lang="en-US" sz="1950" dirty="0"/>
          </a:p>
          <a:p>
            <a:pPr algn="l" indent="0" marL="0">
              <a:lnSpc>
                <a:spcPct val="108657"/>
              </a:lnSpc>
              <a:buNone/>
            </a:pPr>
            <a:r>
              <a:rPr lang="en-US" sz="1950" dirty="0">
                <a:solidFill>
                  <a:srgbClr val="0F3133"/>
                </a:solidFill>
                <a:latin typeface="IBM Plex Sans" pitchFamily="34" charset="0"/>
                <a:ea typeface="IBM Plex Sans" pitchFamily="34" charset="-122"/>
                <a:cs typeface="IBM Plex Sans" pitchFamily="34" charset="-120"/>
              </a:rPr>
              <a:t>P1–P20 personal priority, warmer row colors for P1–P3</a:t>
            </a:r>
            <a:endParaRPr lang="en-US" sz="1950" dirty="0"/>
          </a:p>
          <a:p>
            <a:pPr algn="l" indent="0" marL="0">
              <a:lnSpc>
                <a:spcPct val="108657"/>
              </a:lnSpc>
              <a:buNone/>
            </a:pPr>
            <a:r>
              <a:rPr lang="en-US" sz="1950" dirty="0">
                <a:solidFill>
                  <a:srgbClr val="0F3133"/>
                </a:solidFill>
                <a:latin typeface="IBM Plex Sans" pitchFamily="34" charset="0"/>
                <a:ea typeface="IBM Plex Sans" pitchFamily="34" charset="-122"/>
                <a:cs typeface="IBM Plex Sans" pitchFamily="34" charset="-120"/>
              </a:rPr>
              <a:t>Notes with up to five attachments per note</a:t>
            </a:r>
            <a:endParaRPr lang="en-US" sz="1950" dirty="0"/>
          </a:p>
          <a:p>
            <a:pPr algn="l" indent="0" marL="0">
              <a:lnSpc>
                <a:spcPct val="108657"/>
              </a:lnSpc>
              <a:buNone/>
            </a:pPr>
            <a:r>
              <a:rPr lang="en-US" sz="1950" dirty="0">
                <a:solidFill>
                  <a:srgbClr val="0F3133"/>
                </a:solidFill>
                <a:latin typeface="IBM Plex Sans" pitchFamily="34" charset="0"/>
                <a:ea typeface="IBM Plex Sans" pitchFamily="34" charset="-122"/>
                <a:cs typeface="IBM Plex Sans" pitchFamily="34" charset="-120"/>
              </a:rPr>
              <a:t>Closed and resolved issues are read-only</a:t>
            </a:r>
            <a:endParaRPr lang="en-US" sz="1950" dirty="0"/>
          </a:p>
        </p:txBody>
      </p:sp>
      <p:sp>
        <p:nvSpPr>
          <p:cNvPr id="5" name="Text 3"/>
          <p:cNvSpPr/>
          <p:nvPr/>
        </p:nvSpPr>
        <p:spPr>
          <a:xfrm>
            <a:off x="952500" y="8934450"/>
            <a:ext cx="6278880" cy="628650"/>
          </a:xfrm>
          <a:prstGeom prst="rect">
            <a:avLst/>
          </a:prstGeom>
          <a:noFill/>
          <a:ln/>
        </p:spPr>
        <p:txBody>
          <a:bodyPr wrap="square" lIns="25400" tIns="25400" rIns="25400" bIns="25400" rtlCol="0" anchor="t">
            <a:normAutofit/>
          </a:bodyPr>
          <a:lstStyle/>
          <a:p>
            <a:pPr algn="l" indent="0" marL="0">
              <a:buNone/>
            </a:pPr>
            <a:r>
              <a:rPr lang="en-US" sz="1800" dirty="0">
                <a:solidFill>
                  <a:srgbClr val="5B7178"/>
                </a:solidFill>
                <a:latin typeface="IBM Plex Mono" pitchFamily="34" charset="0"/>
                <a:ea typeface="IBM Plex Mono" pitchFamily="34" charset="-122"/>
                <a:cs typeface="IBM Plex Mono" pitchFamily="34" charset="-120"/>
              </a:rPr>
              <a:t>Screens redacted: project and contributor names</a:t>
            </a:r>
            <a:endParaRPr lang="en-US" sz="1800" dirty="0"/>
          </a:p>
        </p:txBody>
      </p:sp>
      <p:sp>
        <p:nvSpPr>
          <p:cNvPr id="6" name="Shape 4"/>
          <p:cNvSpPr/>
          <p:nvPr/>
        </p:nvSpPr>
        <p:spPr>
          <a:xfrm>
            <a:off x="7715250" y="2537147"/>
            <a:ext cx="9620250" cy="5403205"/>
          </a:xfrm>
          <a:prstGeom prst="roundRect">
            <a:avLst>
              <a:gd name="adj" fmla="val 2115"/>
            </a:avLst>
          </a:prstGeom>
          <a:solidFill>
            <a:srgbClr val="F6F9FB"/>
          </a:solidFill>
          <a:ln w="9525">
            <a:solidFill>
              <a:srgbClr val="D9E3EA"/>
            </a:solidFill>
            <a:prstDash val="solid"/>
          </a:ln>
        </p:spPr>
      </p:sp>
      <p:pic>
        <p:nvPicPr>
          <p:cNvPr id="7" name="Image 0" descr="preencoded.png">    </p:cNvPr>
          <p:cNvPicPr>
            <a:picLocks noChangeAspect="1"/>
          </p:cNvPicPr>
          <p:nvPr/>
        </p:nvPicPr>
        <p:blipFill>
          <a:blip r:embed="rId1"/>
          <a:stretch>
            <a:fillRect/>
          </a:stretch>
        </p:blipFill>
        <p:spPr>
          <a:xfrm>
            <a:off x="7953375" y="2775272"/>
            <a:ext cx="9144000" cy="492695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076EA4">
                  <a:alpha val="100000"/>
                </a:srgbClr>
              </a:gs>
              <a:gs pos="100000">
                <a:srgbClr val="0F3133">
                  <a:alpha val="100000"/>
                </a:srgbClr>
              </a:gs>
            </a:gsLst>
            <a:lin ang="2700000" scaled="0"/>
          </a:gradFill>
          <a:ln/>
        </p:spPr>
      </p:sp>
      <p:sp>
        <p:nvSpPr>
          <p:cNvPr id="3" name="Text 1"/>
          <p:cNvSpPr/>
          <p:nvPr/>
        </p:nvSpPr>
        <p:spPr>
          <a:xfrm>
            <a:off x="952500" y="952500"/>
            <a:ext cx="18021300" cy="828675"/>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FFFFFF"/>
                </a:solidFill>
                <a:latin typeface="IBM Plex Sans" pitchFamily="34" charset="0"/>
                <a:ea typeface="IBM Plex Sans" pitchFamily="34" charset="-122"/>
                <a:cs typeface="IBM Plex Sans" pitchFamily="34" charset="-120"/>
              </a:rPr>
              <a:t>Notes, Priority, Push to Jira</a:t>
            </a:r>
            <a:endParaRPr lang="en-US" sz="4800" dirty="0"/>
          </a:p>
        </p:txBody>
      </p:sp>
      <p:sp>
        <p:nvSpPr>
          <p:cNvPr id="4" name="Text 2"/>
          <p:cNvSpPr/>
          <p:nvPr/>
        </p:nvSpPr>
        <p:spPr>
          <a:xfrm>
            <a:off x="952500" y="1933575"/>
            <a:ext cx="13735050" cy="944761"/>
          </a:xfrm>
          <a:prstGeom prst="rect">
            <a:avLst/>
          </a:prstGeom>
          <a:noFill/>
          <a:ln/>
        </p:spPr>
        <p:txBody>
          <a:bodyPr wrap="square" lIns="25400" tIns="25400" rIns="25400" bIns="25400" rtlCol="0" anchor="t">
            <a:normAutofit/>
          </a:bodyPr>
          <a:lstStyle/>
          <a:p>
            <a:pPr algn="l" indent="0" marL="0">
              <a:lnSpc>
                <a:spcPct val="106966"/>
              </a:lnSpc>
              <a:buNone/>
            </a:pPr>
            <a:r>
              <a:rPr lang="en-US" sz="2550" dirty="0">
                <a:solidFill>
                  <a:srgbClr val="FFFFFF">
                    <a:alpha val="82000"/>
                  </a:srgbClr>
                </a:solidFill>
                <a:latin typeface="IBM Plex Sans" pitchFamily="34" charset="0"/>
                <a:ea typeface="IBM Plex Sans" pitchFamily="34" charset="-122"/>
                <a:cs typeface="IBM Plex Sans" pitchFamily="34" charset="-120"/>
              </a:rPr>
              <a:t>The working layer that sits on top of Jira, and the one action that puts it back in front of the team.</a:t>
            </a:r>
            <a:endParaRPr lang="en-US" sz="2550" dirty="0"/>
          </a:p>
        </p:txBody>
      </p:sp>
      <p:sp>
        <p:nvSpPr>
          <p:cNvPr id="5" name="Shape 3"/>
          <p:cNvSpPr/>
          <p:nvPr/>
        </p:nvSpPr>
        <p:spPr>
          <a:xfrm>
            <a:off x="952500" y="3335536"/>
            <a:ext cx="5232350" cy="3198316"/>
          </a:xfrm>
          <a:prstGeom prst="roundRect">
            <a:avLst>
              <a:gd name="adj" fmla="val 3574"/>
            </a:avLst>
          </a:prstGeom>
          <a:solidFill>
            <a:srgbClr val="FFFFFF">
              <a:alpha val="6000"/>
            </a:srgbClr>
          </a:solidFill>
          <a:ln w="9525">
            <a:solidFill>
              <a:srgbClr val="FFFFFF">
                <a:alpha val="22000"/>
              </a:srgbClr>
            </a:solidFill>
            <a:prstDash val="solid"/>
          </a:ln>
        </p:spPr>
      </p:sp>
      <p:sp>
        <p:nvSpPr>
          <p:cNvPr id="6" name="Text 4"/>
          <p:cNvSpPr/>
          <p:nvPr/>
        </p:nvSpPr>
        <p:spPr>
          <a:xfrm>
            <a:off x="1304925" y="3764161"/>
            <a:ext cx="4980250" cy="733425"/>
          </a:xfrm>
          <a:prstGeom prst="rect">
            <a:avLst/>
          </a:prstGeom>
          <a:noFill/>
          <a:ln/>
        </p:spPr>
        <p:txBody>
          <a:bodyPr wrap="square" lIns="25400" tIns="25400" rIns="25400" bIns="25400" rtlCol="0" anchor="t">
            <a:normAutofit/>
          </a:bodyPr>
          <a:lstStyle/>
          <a:p>
            <a:pPr algn="l" indent="0" marL="0">
              <a:buNone/>
            </a:pPr>
            <a:r>
              <a:rPr lang="en-US" sz="4200" b="1" dirty="0">
                <a:solidFill>
                  <a:srgbClr val="FDD219"/>
                </a:solidFill>
                <a:latin typeface="IBM Plex Mono" pitchFamily="34" charset="0"/>
                <a:ea typeface="IBM Plex Mono" pitchFamily="34" charset="-122"/>
                <a:cs typeface="IBM Plex Mono" pitchFamily="34" charset="-120"/>
              </a:rPr>
              <a:t>P1–P20</a:t>
            </a:r>
            <a:endParaRPr lang="en-US" sz="4200" dirty="0"/>
          </a:p>
        </p:txBody>
      </p:sp>
      <p:sp>
        <p:nvSpPr>
          <p:cNvPr id="7" name="Text 5"/>
          <p:cNvSpPr/>
          <p:nvPr/>
        </p:nvSpPr>
        <p:spPr>
          <a:xfrm>
            <a:off x="1304925" y="4669036"/>
            <a:ext cx="4663325" cy="1474291"/>
          </a:xfrm>
          <a:prstGeom prst="rect">
            <a:avLst/>
          </a:prstGeom>
          <a:noFill/>
          <a:ln/>
        </p:spPr>
        <p:txBody>
          <a:bodyPr wrap="square" lIns="25400" tIns="25400" rIns="25400" bIns="25400" rtlCol="0" anchor="t">
            <a:normAutofit/>
          </a:bodyPr>
          <a:lstStyle/>
          <a:p>
            <a:pPr algn="l" indent="0" marL="0">
              <a:lnSpc>
                <a:spcPct val="112537"/>
              </a:lnSpc>
              <a:buNone/>
            </a:pPr>
            <a:r>
              <a:rPr lang="en-US" sz="1950" dirty="0">
                <a:solidFill>
                  <a:srgbClr val="FFFFFF">
                    <a:alpha val="90000"/>
                  </a:srgbClr>
                </a:solidFill>
                <a:latin typeface="IBM Plex Sans" pitchFamily="34" charset="0"/>
                <a:ea typeface="IBM Plex Sans" pitchFamily="34" charset="-122"/>
                <a:cs typeface="IBM Plex Sans" pitchFamily="34" charset="-120"/>
              </a:rPr>
              <a:t>Your own ranking, saved in the local database. A Jira badge marks a priority read from the latest comment on Run JQL.</a:t>
            </a:r>
            <a:endParaRPr lang="en-US" sz="1950" dirty="0"/>
          </a:p>
        </p:txBody>
      </p:sp>
      <p:sp>
        <p:nvSpPr>
          <p:cNvPr id="8" name="Shape 6"/>
          <p:cNvSpPr/>
          <p:nvPr/>
        </p:nvSpPr>
        <p:spPr>
          <a:xfrm>
            <a:off x="6527750" y="3335536"/>
            <a:ext cx="5232425" cy="3198316"/>
          </a:xfrm>
          <a:prstGeom prst="roundRect">
            <a:avLst>
              <a:gd name="adj" fmla="val 3574"/>
            </a:avLst>
          </a:prstGeom>
          <a:solidFill>
            <a:srgbClr val="FFFFFF">
              <a:alpha val="6000"/>
            </a:srgbClr>
          </a:solidFill>
          <a:ln w="9525">
            <a:solidFill>
              <a:srgbClr val="FFFFFF">
                <a:alpha val="22000"/>
              </a:srgbClr>
            </a:solidFill>
            <a:prstDash val="solid"/>
          </a:ln>
        </p:spPr>
      </p:sp>
      <p:sp>
        <p:nvSpPr>
          <p:cNvPr id="9" name="Text 7"/>
          <p:cNvSpPr/>
          <p:nvPr/>
        </p:nvSpPr>
        <p:spPr>
          <a:xfrm>
            <a:off x="6880175" y="3764161"/>
            <a:ext cx="4980332" cy="733425"/>
          </a:xfrm>
          <a:prstGeom prst="rect">
            <a:avLst/>
          </a:prstGeom>
          <a:noFill/>
          <a:ln/>
        </p:spPr>
        <p:txBody>
          <a:bodyPr wrap="square" lIns="25400" tIns="25400" rIns="25400" bIns="25400" rtlCol="0" anchor="t">
            <a:normAutofit/>
          </a:bodyPr>
          <a:lstStyle/>
          <a:p>
            <a:pPr algn="l" indent="0" marL="0">
              <a:buNone/>
            </a:pPr>
            <a:r>
              <a:rPr lang="en-US" sz="4200" b="1" dirty="0">
                <a:solidFill>
                  <a:srgbClr val="FDD219"/>
                </a:solidFill>
                <a:latin typeface="IBM Plex Mono" pitchFamily="34" charset="0"/>
                <a:ea typeface="IBM Plex Mono" pitchFamily="34" charset="-122"/>
                <a:cs typeface="IBM Plex Mono" pitchFamily="34" charset="-120"/>
              </a:rPr>
              <a:t>5 files</a:t>
            </a:r>
            <a:endParaRPr lang="en-US" sz="4200" dirty="0"/>
          </a:p>
        </p:txBody>
      </p:sp>
      <p:sp>
        <p:nvSpPr>
          <p:cNvPr id="10" name="Text 8"/>
          <p:cNvSpPr/>
          <p:nvPr/>
        </p:nvSpPr>
        <p:spPr>
          <a:xfrm>
            <a:off x="6880175" y="4669036"/>
            <a:ext cx="4663402" cy="1115244"/>
          </a:xfrm>
          <a:prstGeom prst="rect">
            <a:avLst/>
          </a:prstGeom>
          <a:noFill/>
          <a:ln/>
        </p:spPr>
        <p:txBody>
          <a:bodyPr wrap="square" lIns="25400" tIns="25400" rIns="25400" bIns="25400" rtlCol="0" anchor="t">
            <a:normAutofit/>
          </a:bodyPr>
          <a:lstStyle/>
          <a:p>
            <a:pPr algn="l" indent="0" marL="0">
              <a:lnSpc>
                <a:spcPct val="112537"/>
              </a:lnSpc>
              <a:buNone/>
            </a:pPr>
            <a:r>
              <a:rPr lang="en-US" sz="1950" dirty="0">
                <a:solidFill>
                  <a:srgbClr val="FFFFFF">
                    <a:alpha val="90000"/>
                  </a:srgbClr>
                </a:solidFill>
                <a:latin typeface="IBM Plex Sans" pitchFamily="34" charset="0"/>
                <a:ea typeface="IBM Plex Sans" pitchFamily="34" charset="-122"/>
                <a:cs typeface="IBM Plex Sans" pitchFamily="34" charset="-120"/>
              </a:rPr>
              <a:t>Per note, 5 MB each — images plus TXT, PDF, DOC/DOCX, XLSX, CSV. Paste, drag, or Add file.</a:t>
            </a:r>
            <a:endParaRPr lang="en-US" sz="1950" dirty="0"/>
          </a:p>
        </p:txBody>
      </p:sp>
      <p:sp>
        <p:nvSpPr>
          <p:cNvPr id="11" name="Shape 9"/>
          <p:cNvSpPr/>
          <p:nvPr/>
        </p:nvSpPr>
        <p:spPr>
          <a:xfrm>
            <a:off x="12103075" y="3335536"/>
            <a:ext cx="5232350" cy="3198316"/>
          </a:xfrm>
          <a:prstGeom prst="roundRect">
            <a:avLst>
              <a:gd name="adj" fmla="val 3574"/>
            </a:avLst>
          </a:prstGeom>
          <a:solidFill>
            <a:srgbClr val="FFFFFF">
              <a:alpha val="6000"/>
            </a:srgbClr>
          </a:solidFill>
          <a:ln w="9525">
            <a:solidFill>
              <a:srgbClr val="FFFFFF">
                <a:alpha val="22000"/>
              </a:srgbClr>
            </a:solidFill>
            <a:prstDash val="solid"/>
          </a:ln>
        </p:spPr>
      </p:sp>
      <p:sp>
        <p:nvSpPr>
          <p:cNvPr id="12" name="Text 10"/>
          <p:cNvSpPr/>
          <p:nvPr/>
        </p:nvSpPr>
        <p:spPr>
          <a:xfrm>
            <a:off x="12455500" y="3764161"/>
            <a:ext cx="4980250" cy="733425"/>
          </a:xfrm>
          <a:prstGeom prst="rect">
            <a:avLst/>
          </a:prstGeom>
          <a:noFill/>
          <a:ln/>
        </p:spPr>
        <p:txBody>
          <a:bodyPr wrap="square" lIns="25400" tIns="25400" rIns="25400" bIns="25400" rtlCol="0" anchor="t">
            <a:normAutofit/>
          </a:bodyPr>
          <a:lstStyle/>
          <a:p>
            <a:pPr algn="l" indent="0" marL="0">
              <a:buNone/>
            </a:pPr>
            <a:r>
              <a:rPr lang="en-US" sz="4200" b="1" dirty="0">
                <a:solidFill>
                  <a:srgbClr val="FDD219"/>
                </a:solidFill>
                <a:latin typeface="IBM Plex Mono" pitchFamily="34" charset="0"/>
                <a:ea typeface="IBM Plex Mono" pitchFamily="34" charset="-122"/>
                <a:cs typeface="IBM Plex Mono" pitchFamily="34" charset="-120"/>
              </a:rPr>
              <a:t>Push</a:t>
            </a:r>
            <a:endParaRPr lang="en-US" sz="4200" dirty="0"/>
          </a:p>
        </p:txBody>
      </p:sp>
      <p:sp>
        <p:nvSpPr>
          <p:cNvPr id="13" name="Text 11"/>
          <p:cNvSpPr/>
          <p:nvPr/>
        </p:nvSpPr>
        <p:spPr>
          <a:xfrm>
            <a:off x="12455500" y="4669036"/>
            <a:ext cx="4663325" cy="1474291"/>
          </a:xfrm>
          <a:prstGeom prst="rect">
            <a:avLst/>
          </a:prstGeom>
          <a:noFill/>
          <a:ln/>
        </p:spPr>
        <p:txBody>
          <a:bodyPr wrap="square" lIns="25400" tIns="25400" rIns="25400" bIns="25400" rtlCol="0" anchor="t">
            <a:normAutofit/>
          </a:bodyPr>
          <a:lstStyle/>
          <a:p>
            <a:pPr algn="l" indent="0" marL="0">
              <a:lnSpc>
                <a:spcPct val="112537"/>
              </a:lnSpc>
              <a:buNone/>
            </a:pPr>
            <a:r>
              <a:rPr lang="en-US" sz="1950" dirty="0">
                <a:solidFill>
                  <a:srgbClr val="FFFFFF">
                    <a:alpha val="90000"/>
                  </a:srgbClr>
                </a:solidFill>
                <a:latin typeface="IBM Plex Sans" pitchFamily="34" charset="0"/>
                <a:ea typeface="IBM Plex Sans" pitchFamily="34" charset="-122"/>
                <a:cs typeface="IBM Plex Sans" pitchFamily="34" charset="-120"/>
              </a:rPr>
              <a:t>Check the rows, click Push note. Text and attachments post as a Jira comment, visible to everyone with access.</a:t>
            </a:r>
            <a:endParaRPr lang="en-US" sz="1950" dirty="0"/>
          </a:p>
        </p:txBody>
      </p:sp>
      <p:sp>
        <p:nvSpPr>
          <p:cNvPr id="14" name="Text 12"/>
          <p:cNvSpPr/>
          <p:nvPr/>
        </p:nvSpPr>
        <p:spPr>
          <a:xfrm>
            <a:off x="952500" y="9151665"/>
            <a:ext cx="15716250" cy="411435"/>
          </a:xfrm>
          <a:prstGeom prst="rect">
            <a:avLst/>
          </a:prstGeom>
          <a:noFill/>
          <a:ln/>
        </p:spPr>
        <p:txBody>
          <a:bodyPr wrap="square" lIns="25400" tIns="25400" rIns="25400" bIns="25400" rtlCol="0" anchor="t">
            <a:normAutofit/>
          </a:bodyPr>
          <a:lstStyle/>
          <a:p>
            <a:pPr algn="l" indent="0" marL="0">
              <a:lnSpc>
                <a:spcPct val="108889"/>
              </a:lnSpc>
              <a:buNone/>
            </a:pPr>
            <a:r>
              <a:rPr lang="en-US" sz="2100" dirty="0">
                <a:solidFill>
                  <a:srgbClr val="FFFFFF">
                    <a:alpha val="72000"/>
                  </a:srgbClr>
                </a:solidFill>
                <a:latin typeface="IBM Plex Sans" pitchFamily="34" charset="0"/>
                <a:ea typeface="IBM Plex Sans" pitchFamily="34" charset="-122"/>
                <a:cs typeface="IBM Plex Sans" pitchFamily="34" charset="-120"/>
              </a:rPr>
              <a:t>Notes and priorities stay on your machine until you push. Nothing reaches Jira by accident.</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9FB"/>
        </a:solidFill>
      </p:bgPr>
    </p:bg>
    <p:spTree>
      <p:nvGrpSpPr>
        <p:cNvPr id="1" name=""/>
        <p:cNvGrpSpPr/>
        <p:nvPr/>
      </p:nvGrpSpPr>
      <p:grpSpPr>
        <a:xfrm>
          <a:off x="0" y="0"/>
          <a:ext cx="0" cy="0"/>
          <a:chOff x="0" y="0"/>
          <a:chExt cx="0" cy="0"/>
        </a:xfrm>
      </p:grpSpPr>
      <p:sp>
        <p:nvSpPr>
          <p:cNvPr id="2" name="Text 0"/>
          <p:cNvSpPr/>
          <p:nvPr/>
        </p:nvSpPr>
        <p:spPr>
          <a:xfrm>
            <a:off x="952500" y="952500"/>
            <a:ext cx="18021300" cy="828675"/>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0F3133"/>
                </a:solidFill>
                <a:latin typeface="IBM Plex Sans" pitchFamily="34" charset="0"/>
                <a:ea typeface="IBM Plex Sans" pitchFamily="34" charset="-122"/>
                <a:cs typeface="IBM Plex Sans" pitchFamily="34" charset="-120"/>
              </a:rPr>
              <a:t>Shared Priority Without a Spreadsheet</a:t>
            </a:r>
            <a:endParaRPr lang="en-US" sz="4800" dirty="0"/>
          </a:p>
        </p:txBody>
      </p:sp>
      <p:sp>
        <p:nvSpPr>
          <p:cNvPr id="3" name="Text 1"/>
          <p:cNvSpPr/>
          <p:nvPr/>
        </p:nvSpPr>
        <p:spPr>
          <a:xfrm>
            <a:off x="952500" y="1933575"/>
            <a:ext cx="13735050" cy="944761"/>
          </a:xfrm>
          <a:prstGeom prst="rect">
            <a:avLst/>
          </a:prstGeom>
          <a:noFill/>
          <a:ln/>
        </p:spPr>
        <p:txBody>
          <a:bodyPr wrap="square" lIns="25400" tIns="25400" rIns="25400" bIns="25400" rtlCol="0" anchor="t">
            <a:normAutofit/>
          </a:bodyPr>
          <a:lstStyle/>
          <a:p>
            <a:pPr algn="l" indent="0" marL="0">
              <a:lnSpc>
                <a:spcPct val="106966"/>
              </a:lnSpc>
              <a:buNone/>
            </a:pPr>
            <a:r>
              <a:rPr lang="en-US" sz="2550" dirty="0">
                <a:solidFill>
                  <a:srgbClr val="5B7178"/>
                </a:solidFill>
                <a:latin typeface="IBM Plex Sans" pitchFamily="34" charset="0"/>
                <a:ea typeface="IBM Plex Sans" pitchFamily="34" charset="-122"/>
                <a:cs typeface="IBM Plex Sans" pitchFamily="34" charset="-120"/>
              </a:rPr>
              <a:t>Teams that kept a shared Excel tracker so everyone saw the same ranking can set that ranking in the app instead.</a:t>
            </a:r>
            <a:endParaRPr lang="en-US" sz="2550" dirty="0"/>
          </a:p>
        </p:txBody>
      </p:sp>
      <p:sp>
        <p:nvSpPr>
          <p:cNvPr id="4" name="Shape 2"/>
          <p:cNvSpPr/>
          <p:nvPr/>
        </p:nvSpPr>
        <p:spPr>
          <a:xfrm>
            <a:off x="952500" y="3335536"/>
            <a:ext cx="8001000" cy="3471863"/>
          </a:xfrm>
          <a:prstGeom prst="roundRect">
            <a:avLst>
              <a:gd name="adj" fmla="val 3292"/>
            </a:avLst>
          </a:prstGeom>
          <a:solidFill>
            <a:srgbClr val="FFFFFF"/>
          </a:solidFill>
          <a:ln w="9525">
            <a:solidFill>
              <a:srgbClr val="D9E3EA"/>
            </a:solidFill>
            <a:prstDash val="solid"/>
          </a:ln>
        </p:spPr>
      </p:sp>
      <p:sp>
        <p:nvSpPr>
          <p:cNvPr id="5" name="Text 3"/>
          <p:cNvSpPr/>
          <p:nvPr/>
        </p:nvSpPr>
        <p:spPr>
          <a:xfrm>
            <a:off x="1343025" y="3764161"/>
            <a:ext cx="7941945" cy="381000"/>
          </a:xfrm>
          <a:prstGeom prst="rect">
            <a:avLst/>
          </a:prstGeom>
          <a:noFill/>
          <a:ln/>
        </p:spPr>
        <p:txBody>
          <a:bodyPr wrap="square" lIns="25400" tIns="25400" rIns="25400" bIns="25400" rtlCol="0" anchor="t">
            <a:normAutofit/>
          </a:bodyPr>
          <a:lstStyle/>
          <a:p>
            <a:pPr algn="l" indent="0" marL="0">
              <a:buNone/>
            </a:pPr>
            <a:r>
              <a:rPr lang="en-US" sz="2100" b="1" spc="210" kern="0" dirty="0">
                <a:solidFill>
                  <a:srgbClr val="076EA4"/>
                </a:solidFill>
                <a:latin typeface="IBM Plex Sans" pitchFamily="34" charset="0"/>
                <a:ea typeface="IBM Plex Sans" pitchFamily="34" charset="-122"/>
                <a:cs typeface="IBM Plex Sans" pitchFamily="34" charset="-120"/>
              </a:rPr>
              <a:t>SHARED-PROGRAM SLOT</a:t>
            </a:r>
            <a:endParaRPr lang="en-US" sz="2100" dirty="0"/>
          </a:p>
        </p:txBody>
      </p:sp>
      <p:sp>
        <p:nvSpPr>
          <p:cNvPr id="6" name="Text 4"/>
          <p:cNvSpPr/>
          <p:nvPr/>
        </p:nvSpPr>
        <p:spPr>
          <a:xfrm>
            <a:off x="1343025" y="4297561"/>
            <a:ext cx="7436549" cy="1238250"/>
          </a:xfrm>
          <a:prstGeom prst="rect">
            <a:avLst/>
          </a:prstGeom>
          <a:noFill/>
          <a:ln/>
        </p:spPr>
        <p:txBody>
          <a:bodyPr wrap="square" lIns="25400" tIns="25400" rIns="25400" bIns="25400" rtlCol="0" anchor="t">
            <a:normAutofit/>
          </a:bodyPr>
          <a:lstStyle/>
          <a:p>
            <a:pPr algn="l" indent="0" marL="0">
              <a:lnSpc>
                <a:spcPct val="109091"/>
              </a:lnSpc>
              <a:buNone/>
            </a:pPr>
            <a:r>
              <a:rPr lang="en-US" sz="2250" dirty="0">
                <a:solidFill>
                  <a:srgbClr val="0F3133"/>
                </a:solidFill>
                <a:latin typeface="IBM Plex Sans" pitchFamily="34" charset="0"/>
                <a:ea typeface="IBM Plex Sans" pitchFamily="34" charset="-122"/>
                <a:cs typeface="IBM Plex Sans" pitchFamily="34" charset="-120"/>
              </a:rPr>
              <a:t>Link a Task Management slot to a shared program. Priority saves to the team store immediately, and rows show a </a:t>
            </a:r>
            <a:pPr algn="l" indent="0" marL="0">
              <a:lnSpc>
                <a:spcPct val="109091"/>
              </a:lnSpc>
              <a:buNone/>
            </a:pPr>
            <a:r>
              <a:rPr lang="en-US" sz="1950" dirty="0">
                <a:solidFill>
                  <a:srgbClr val="0F3133"/>
                </a:solidFill>
                <a:highlight>
                  <a:srgbClr val="E2F2FA"/>
                </a:highlight>
                <a:latin typeface="IBM Plex Mono" pitchFamily="34" charset="0"/>
                <a:ea typeface="IBM Plex Mono" pitchFamily="34" charset="-122"/>
                <a:cs typeface="IBM Plex Mono" pitchFamily="34" charset="-120"/>
              </a:rPr>
              <a:t>Team </a:t>
            </a:r>
            <a:pPr algn="l" indent="0" marL="0">
              <a:lnSpc>
                <a:spcPct val="109091"/>
              </a:lnSpc>
              <a:buNone/>
            </a:pPr>
            <a:r>
              <a:rPr lang="en-US" sz="2250" dirty="0">
                <a:solidFill>
                  <a:srgbClr val="0F3133"/>
                </a:solidFill>
                <a:latin typeface="IBM Plex Sans" pitchFamily="34" charset="0"/>
                <a:ea typeface="IBM Plex Sans" pitchFamily="34" charset="-122"/>
                <a:cs typeface="IBM Plex Sans" pitchFamily="34" charset="-120"/>
              </a:rPr>
              <a:t>badge.</a:t>
            </a:r>
            <a:endParaRPr lang="en-US" sz="2250" dirty="0"/>
          </a:p>
        </p:txBody>
      </p:sp>
      <p:sp>
        <p:nvSpPr>
          <p:cNvPr id="7" name="Text 5"/>
          <p:cNvSpPr/>
          <p:nvPr/>
        </p:nvSpPr>
        <p:spPr>
          <a:xfrm>
            <a:off x="1343025" y="5688211"/>
            <a:ext cx="7436549" cy="728663"/>
          </a:xfrm>
          <a:prstGeom prst="rect">
            <a:avLst/>
          </a:prstGeom>
          <a:noFill/>
          <a:ln/>
        </p:spPr>
        <p:txBody>
          <a:bodyPr wrap="square" lIns="25400" tIns="25400" rIns="25400" bIns="25400" rtlCol="0" anchor="t">
            <a:normAutofit/>
          </a:bodyPr>
          <a:lstStyle/>
          <a:p>
            <a:pPr algn="l" indent="0" marL="0">
              <a:lnSpc>
                <a:spcPct val="111538"/>
              </a:lnSpc>
              <a:buNone/>
            </a:pPr>
            <a:r>
              <a:rPr lang="en-US" sz="1875" dirty="0">
                <a:solidFill>
                  <a:srgbClr val="5B7178"/>
                </a:solidFill>
                <a:latin typeface="IBM Plex Sans" pitchFamily="34" charset="0"/>
                <a:ea typeface="IBM Plex Sans" pitchFamily="34" charset="-122"/>
                <a:cs typeface="IBM Plex Sans" pitchFamily="34" charset="-120"/>
              </a:rPr>
              <a:t>Run JQL on that slot loads priorities from the shared store. Personal slots stay local.</a:t>
            </a:r>
            <a:endParaRPr lang="en-US" sz="1875" dirty="0"/>
          </a:p>
        </p:txBody>
      </p:sp>
      <p:sp>
        <p:nvSpPr>
          <p:cNvPr id="8" name="Shape 6"/>
          <p:cNvSpPr/>
          <p:nvPr/>
        </p:nvSpPr>
        <p:spPr>
          <a:xfrm>
            <a:off x="9334500" y="3335536"/>
            <a:ext cx="8001000" cy="3471863"/>
          </a:xfrm>
          <a:prstGeom prst="roundRect">
            <a:avLst>
              <a:gd name="adj" fmla="val 3292"/>
            </a:avLst>
          </a:prstGeom>
          <a:solidFill>
            <a:srgbClr val="FFFFFF"/>
          </a:solidFill>
          <a:ln w="9525">
            <a:solidFill>
              <a:srgbClr val="D9E3EA"/>
            </a:solidFill>
            <a:prstDash val="solid"/>
          </a:ln>
        </p:spPr>
      </p:sp>
      <p:sp>
        <p:nvSpPr>
          <p:cNvPr id="9" name="Text 7"/>
          <p:cNvSpPr/>
          <p:nvPr/>
        </p:nvSpPr>
        <p:spPr>
          <a:xfrm>
            <a:off x="9725025" y="3764161"/>
            <a:ext cx="7941945" cy="381000"/>
          </a:xfrm>
          <a:prstGeom prst="rect">
            <a:avLst/>
          </a:prstGeom>
          <a:noFill/>
          <a:ln/>
        </p:spPr>
        <p:txBody>
          <a:bodyPr wrap="square" lIns="25400" tIns="25400" rIns="25400" bIns="25400" rtlCol="0" anchor="t">
            <a:normAutofit/>
          </a:bodyPr>
          <a:lstStyle/>
          <a:p>
            <a:pPr algn="l" indent="0" marL="0">
              <a:buNone/>
            </a:pPr>
            <a:r>
              <a:rPr lang="en-US" sz="2100" b="1" spc="210" kern="0" dirty="0">
                <a:solidFill>
                  <a:srgbClr val="076EA4"/>
                </a:solidFill>
                <a:latin typeface="IBM Plex Sans" pitchFamily="34" charset="0"/>
                <a:ea typeface="IBM Plex Sans" pitchFamily="34" charset="-122"/>
                <a:cs typeface="IBM Plex Sans" pitchFamily="34" charset="-120"/>
              </a:rPr>
              <a:t>BOOTSTRAP FROM THE SHEET</a:t>
            </a:r>
            <a:endParaRPr lang="en-US" sz="2100" dirty="0"/>
          </a:p>
        </p:txBody>
      </p:sp>
      <p:sp>
        <p:nvSpPr>
          <p:cNvPr id="10" name="Text 8"/>
          <p:cNvSpPr/>
          <p:nvPr/>
        </p:nvSpPr>
        <p:spPr>
          <a:xfrm>
            <a:off x="9725025" y="4297561"/>
            <a:ext cx="7436549" cy="838200"/>
          </a:xfrm>
          <a:prstGeom prst="rect">
            <a:avLst/>
          </a:prstGeom>
          <a:noFill/>
          <a:ln/>
        </p:spPr>
        <p:txBody>
          <a:bodyPr wrap="square" lIns="25400" tIns="25400" rIns="25400" bIns="25400" rtlCol="0" anchor="t">
            <a:normAutofit/>
          </a:bodyPr>
          <a:lstStyle/>
          <a:p>
            <a:pPr algn="l" indent="0" marL="0">
              <a:lnSpc>
                <a:spcPct val="109091"/>
              </a:lnSpc>
              <a:buNone/>
            </a:pPr>
            <a:r>
              <a:rPr lang="en-US" sz="2250" dirty="0">
                <a:solidFill>
                  <a:srgbClr val="0F3133"/>
                </a:solidFill>
                <a:latin typeface="IBM Plex Sans" pitchFamily="34" charset="0"/>
                <a:ea typeface="IBM Plex Sans" pitchFamily="34" charset="-122"/>
                <a:cs typeface="IBM Plex Sans" pitchFamily="34" charset="-120"/>
              </a:rPr>
              <a:t>Export the existing tracker as CSV — Priority, ODI, Developer, Jira Status, notes — and import it in Settings.</a:t>
            </a:r>
            <a:endParaRPr lang="en-US" sz="2250" dirty="0"/>
          </a:p>
        </p:txBody>
      </p:sp>
      <p:sp>
        <p:nvSpPr>
          <p:cNvPr id="11" name="Text 9"/>
          <p:cNvSpPr/>
          <p:nvPr/>
        </p:nvSpPr>
        <p:spPr>
          <a:xfrm>
            <a:off x="9725025" y="5288161"/>
            <a:ext cx="7436549" cy="728663"/>
          </a:xfrm>
          <a:prstGeom prst="rect">
            <a:avLst/>
          </a:prstGeom>
          <a:noFill/>
          <a:ln/>
        </p:spPr>
        <p:txBody>
          <a:bodyPr wrap="square" lIns="25400" tIns="25400" rIns="25400" bIns="25400" rtlCol="0" anchor="t">
            <a:normAutofit/>
          </a:bodyPr>
          <a:lstStyle/>
          <a:p>
            <a:pPr algn="l" indent="0" marL="0">
              <a:lnSpc>
                <a:spcPct val="111538"/>
              </a:lnSpc>
              <a:buNone/>
            </a:pPr>
            <a:r>
              <a:rPr lang="en-US" sz="1875" dirty="0">
                <a:solidFill>
                  <a:srgbClr val="5B7178"/>
                </a:solidFill>
                <a:latin typeface="IBM Plex Sans" pitchFamily="34" charset="0"/>
                <a:ea typeface="IBM Plex Sans" pitchFamily="34" charset="-122"/>
                <a:cs typeface="IBM Plex Sans" pitchFamily="34" charset="-120"/>
              </a:rPr>
              <a:t>Matching issue keys overwrite priority for the chosen target. Re-import when rankings change.</a:t>
            </a:r>
            <a:endParaRPr lang="en-US" sz="1875" dirty="0"/>
          </a:p>
        </p:txBody>
      </p:sp>
      <p:sp>
        <p:nvSpPr>
          <p:cNvPr id="12" name="Text 10"/>
          <p:cNvSpPr/>
          <p:nvPr/>
        </p:nvSpPr>
        <p:spPr>
          <a:xfrm>
            <a:off x="952500" y="6807398"/>
            <a:ext cx="15716250" cy="491430"/>
          </a:xfrm>
          <a:prstGeom prst="rect">
            <a:avLst/>
          </a:prstGeom>
          <a:noFill/>
          <a:ln/>
        </p:spPr>
        <p:txBody>
          <a:bodyPr wrap="square" lIns="25400" tIns="25400" rIns="25400" bIns="25400" rtlCol="0" anchor="t">
            <a:normAutofit/>
          </a:bodyPr>
          <a:lstStyle/>
          <a:p>
            <a:pPr algn="l" indent="0" marL="0">
              <a:lnSpc>
                <a:spcPct val="106966"/>
              </a:lnSpc>
              <a:buNone/>
            </a:pPr>
            <a:r>
              <a:rPr lang="en-US" sz="2550" dirty="0">
                <a:solidFill>
                  <a:srgbClr val="0F3133"/>
                </a:solidFill>
                <a:latin typeface="IBM Plex Sans" pitchFamily="34" charset="0"/>
                <a:ea typeface="IBM Plex Sans" pitchFamily="34" charset="-122"/>
                <a:cs typeface="IBM Plex Sans" pitchFamily="34" charset="-120"/>
              </a:rPr>
              <a:t>One central place to set project priorities — and the ranking sits next to the work it applies to.</a:t>
            </a:r>
            <a:endParaRPr lang="en-US" sz="2550" dirty="0"/>
          </a:p>
        </p:txBody>
      </p:sp>
      <p:sp>
        <p:nvSpPr>
          <p:cNvPr id="13" name="Shape 11"/>
          <p:cNvSpPr/>
          <p:nvPr/>
        </p:nvSpPr>
        <p:spPr>
          <a:xfrm>
            <a:off x="952500" y="8393460"/>
            <a:ext cx="16383000" cy="1131540"/>
          </a:xfrm>
          <a:prstGeom prst="roundRect">
            <a:avLst>
              <a:gd name="adj" fmla="val 8418"/>
            </a:avLst>
          </a:prstGeom>
          <a:solidFill>
            <a:srgbClr val="FDD219">
              <a:alpha val="8000"/>
            </a:srgbClr>
          </a:solidFill>
          <a:ln w="9525">
            <a:solidFill>
              <a:srgbClr val="FDD219"/>
            </a:solidFill>
            <a:prstDash val="dash"/>
          </a:ln>
        </p:spPr>
      </p:sp>
      <p:sp>
        <p:nvSpPr>
          <p:cNvPr id="14" name="Text 12"/>
          <p:cNvSpPr/>
          <p:nvPr/>
        </p:nvSpPr>
        <p:spPr>
          <a:xfrm>
            <a:off x="1228725" y="8811592"/>
            <a:ext cx="698004" cy="333375"/>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8A6D00"/>
                </a:solidFill>
                <a:latin typeface="IBM Plex Mono" pitchFamily="34" charset="0"/>
                <a:ea typeface="IBM Plex Mono" pitchFamily="34" charset="-122"/>
                <a:cs typeface="IBM Plex Mono" pitchFamily="34" charset="-120"/>
              </a:rPr>
              <a:t>TODO</a:t>
            </a:r>
            <a:endParaRPr lang="en-US" sz="1800" dirty="0"/>
          </a:p>
        </p:txBody>
      </p:sp>
      <p:sp>
        <p:nvSpPr>
          <p:cNvPr id="15" name="Text 13"/>
          <p:cNvSpPr/>
          <p:nvPr/>
        </p:nvSpPr>
        <p:spPr>
          <a:xfrm>
            <a:off x="2021979" y="8612535"/>
            <a:ext cx="15488415" cy="731490"/>
          </a:xfrm>
          <a:prstGeom prst="rect">
            <a:avLst/>
          </a:prstGeom>
          <a:noFill/>
          <a:ln/>
        </p:spPr>
        <p:txBody>
          <a:bodyPr wrap="square" lIns="25400" tIns="25400" rIns="25400" bIns="25400" rtlCol="0" anchor="t">
            <a:normAutofit/>
          </a:bodyPr>
          <a:lstStyle/>
          <a:p>
            <a:pPr algn="l" indent="0" marL="0">
              <a:lnSpc>
                <a:spcPct val="108657"/>
              </a:lnSpc>
              <a:buNone/>
            </a:pPr>
            <a:r>
              <a:rPr lang="en-US" sz="1950" dirty="0">
                <a:solidFill>
                  <a:srgbClr val="0F3133"/>
                </a:solidFill>
                <a:latin typeface="IBM Plex Sans" pitchFamily="34" charset="0"/>
                <a:ea typeface="IBM Plex Sans" pitchFamily="34" charset="-122"/>
                <a:cs typeface="IBM Plex Sans" pitchFamily="34" charset="-120"/>
              </a:rPr>
              <a:t>Shared-program store is a demo today (Atlas) — the production database and API for team-wide priority still needs to be decided and built.</a:t>
            </a:r>
            <a:endParaRPr lang="en-US" sz="1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952500"/>
            <a:ext cx="18021300" cy="828675"/>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0F3133"/>
                </a:solidFill>
                <a:latin typeface="IBM Plex Sans" pitchFamily="34" charset="0"/>
                <a:ea typeface="IBM Plex Sans" pitchFamily="34" charset="-122"/>
                <a:cs typeface="IBM Plex Sans" pitchFamily="34" charset="-120"/>
              </a:rPr>
              <a:t>Create Issue with AI Draft</a:t>
            </a:r>
            <a:endParaRPr lang="en-US" sz="4800" dirty="0"/>
          </a:p>
        </p:txBody>
      </p:sp>
      <p:sp>
        <p:nvSpPr>
          <p:cNvPr id="3" name="Text 1"/>
          <p:cNvSpPr/>
          <p:nvPr/>
        </p:nvSpPr>
        <p:spPr>
          <a:xfrm>
            <a:off x="952500" y="1933575"/>
            <a:ext cx="13735050" cy="944761"/>
          </a:xfrm>
          <a:prstGeom prst="rect">
            <a:avLst/>
          </a:prstGeom>
          <a:noFill/>
          <a:ln/>
        </p:spPr>
        <p:txBody>
          <a:bodyPr wrap="square" lIns="25400" tIns="25400" rIns="25400" bIns="25400" rtlCol="0" anchor="t">
            <a:normAutofit/>
          </a:bodyPr>
          <a:lstStyle/>
          <a:p>
            <a:pPr algn="l" indent="0" marL="0">
              <a:lnSpc>
                <a:spcPct val="106966"/>
              </a:lnSpc>
              <a:buNone/>
            </a:pPr>
            <a:r>
              <a:rPr lang="en-US" sz="2550" dirty="0">
                <a:solidFill>
                  <a:srgbClr val="5B7178"/>
                </a:solidFill>
                <a:latin typeface="IBM Plex Sans" pitchFamily="34" charset="0"/>
                <a:ea typeface="IBM Plex Sans" pitchFamily="34" charset="-122"/>
                <a:cs typeface="IBM Plex Sans" pitchFamily="34" charset="-120"/>
              </a:rPr>
              <a:t>New Stories, Tasks, and Bugs without leaving the app — with the parent chain already correct.</a:t>
            </a:r>
            <a:endParaRPr lang="en-US" sz="2550" dirty="0"/>
          </a:p>
        </p:txBody>
      </p:sp>
      <p:sp>
        <p:nvSpPr>
          <p:cNvPr id="4" name="Text 2"/>
          <p:cNvSpPr/>
          <p:nvPr/>
        </p:nvSpPr>
        <p:spPr>
          <a:xfrm>
            <a:off x="952500" y="3335536"/>
            <a:ext cx="8591550" cy="381000"/>
          </a:xfrm>
          <a:prstGeom prst="rect">
            <a:avLst/>
          </a:prstGeom>
          <a:noFill/>
          <a:ln/>
        </p:spPr>
        <p:txBody>
          <a:bodyPr wrap="square" lIns="25400" tIns="25400" rIns="25400" bIns="25400" rtlCol="0" anchor="t">
            <a:normAutofit/>
          </a:bodyPr>
          <a:lstStyle/>
          <a:p>
            <a:pPr algn="l" indent="0" marL="0">
              <a:buNone/>
            </a:pPr>
            <a:r>
              <a:rPr lang="en-US" sz="2100" b="1" spc="210" kern="0" dirty="0">
                <a:solidFill>
                  <a:srgbClr val="5B7178"/>
                </a:solidFill>
                <a:latin typeface="IBM Plex Sans" pitchFamily="34" charset="0"/>
                <a:ea typeface="IBM Plex Sans" pitchFamily="34" charset="-122"/>
                <a:cs typeface="IBM Plex Sans" pitchFamily="34" charset="-120"/>
              </a:rPr>
              <a:t>PARENT RULES</a:t>
            </a:r>
            <a:endParaRPr lang="en-US" sz="2100" dirty="0"/>
          </a:p>
        </p:txBody>
      </p:sp>
      <p:sp>
        <p:nvSpPr>
          <p:cNvPr id="5" name="Shape 3"/>
          <p:cNvSpPr/>
          <p:nvPr/>
        </p:nvSpPr>
        <p:spPr>
          <a:xfrm>
            <a:off x="952500" y="3926086"/>
            <a:ext cx="3254276" cy="781050"/>
          </a:xfrm>
          <a:prstGeom prst="roundRect">
            <a:avLst>
              <a:gd name="adj" fmla="val 9756"/>
            </a:avLst>
          </a:prstGeom>
          <a:ln w="9525">
            <a:solidFill>
              <a:srgbClr val="D9E3EA"/>
            </a:solidFill>
            <a:prstDash val="solid"/>
          </a:ln>
        </p:spPr>
      </p:sp>
      <p:sp>
        <p:nvSpPr>
          <p:cNvPr id="6" name="Text 4"/>
          <p:cNvSpPr/>
          <p:nvPr/>
        </p:nvSpPr>
        <p:spPr>
          <a:xfrm>
            <a:off x="1209675" y="4145161"/>
            <a:ext cx="2837554"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0F3133"/>
                </a:solidFill>
                <a:latin typeface="IBM Plex Sans" pitchFamily="34" charset="0"/>
                <a:ea typeface="IBM Plex Sans" pitchFamily="34" charset="-122"/>
                <a:cs typeface="IBM Plex Sans" pitchFamily="34" charset="-120"/>
              </a:rPr>
              <a:t>Story</a:t>
            </a:r>
            <a:endParaRPr lang="en-US" sz="2100" dirty="0"/>
          </a:p>
        </p:txBody>
      </p:sp>
      <p:sp>
        <p:nvSpPr>
          <p:cNvPr id="7" name="Text 5"/>
          <p:cNvSpPr/>
          <p:nvPr/>
        </p:nvSpPr>
        <p:spPr>
          <a:xfrm>
            <a:off x="4416326" y="4161830"/>
            <a:ext cx="958974" cy="347663"/>
          </a:xfrm>
          <a:prstGeom prst="rect">
            <a:avLst/>
          </a:prstGeom>
          <a:noFill/>
          <a:ln/>
        </p:spPr>
        <p:txBody>
          <a:bodyPr wrap="square" lIns="25400" tIns="25400" rIns="25400" bIns="25400" rtlCol="0" anchor="t">
            <a:normAutofit/>
          </a:bodyPr>
          <a:lstStyle/>
          <a:p>
            <a:pPr algn="l" indent="0" marL="0">
              <a:buNone/>
            </a:pPr>
            <a:r>
              <a:rPr lang="en-US" sz="1875" dirty="0">
                <a:solidFill>
                  <a:srgbClr val="0C93D9"/>
                </a:solidFill>
                <a:latin typeface="IBM Plex Sans" pitchFamily="34" charset="0"/>
                <a:ea typeface="IBM Plex Sans" pitchFamily="34" charset="-122"/>
                <a:cs typeface="IBM Plex Sans" pitchFamily="34" charset="-120"/>
              </a:rPr>
              <a:t>requires</a:t>
            </a:r>
            <a:endParaRPr lang="en-US" sz="1875" dirty="0"/>
          </a:p>
        </p:txBody>
      </p:sp>
      <p:sp>
        <p:nvSpPr>
          <p:cNvPr id="8" name="Shape 6"/>
          <p:cNvSpPr/>
          <p:nvPr/>
        </p:nvSpPr>
        <p:spPr>
          <a:xfrm>
            <a:off x="5508650" y="3926086"/>
            <a:ext cx="3254350" cy="781050"/>
          </a:xfrm>
          <a:prstGeom prst="roundRect">
            <a:avLst>
              <a:gd name="adj" fmla="val 9756"/>
            </a:avLst>
          </a:prstGeom>
          <a:solidFill>
            <a:srgbClr val="F6F9FB"/>
          </a:solidFill>
          <a:ln w="9525">
            <a:solidFill>
              <a:srgbClr val="D9E3EA"/>
            </a:solidFill>
            <a:prstDash val="solid"/>
          </a:ln>
        </p:spPr>
      </p:sp>
      <p:sp>
        <p:nvSpPr>
          <p:cNvPr id="9" name="Text 7"/>
          <p:cNvSpPr/>
          <p:nvPr/>
        </p:nvSpPr>
        <p:spPr>
          <a:xfrm>
            <a:off x="5765825" y="4145161"/>
            <a:ext cx="2837631" cy="381000"/>
          </a:xfrm>
          <a:prstGeom prst="rect">
            <a:avLst/>
          </a:prstGeom>
          <a:noFill/>
          <a:ln/>
        </p:spPr>
        <p:txBody>
          <a:bodyPr wrap="square" lIns="25400" tIns="25400" rIns="25400" bIns="25400" rtlCol="0" anchor="t">
            <a:normAutofit/>
          </a:bodyPr>
          <a:lstStyle/>
          <a:p>
            <a:pPr algn="l" indent="0" marL="0">
              <a:buNone/>
            </a:pPr>
            <a:r>
              <a:rPr lang="en-US" sz="2100" dirty="0">
                <a:solidFill>
                  <a:srgbClr val="0F3133"/>
                </a:solidFill>
                <a:latin typeface="IBM Plex Sans" pitchFamily="34" charset="0"/>
                <a:ea typeface="IBM Plex Sans" pitchFamily="34" charset="-122"/>
                <a:cs typeface="IBM Plex Sans" pitchFamily="34" charset="-120"/>
              </a:rPr>
              <a:t>Epic</a:t>
            </a:r>
            <a:endParaRPr lang="en-US" sz="2100" dirty="0"/>
          </a:p>
        </p:txBody>
      </p:sp>
      <p:sp>
        <p:nvSpPr>
          <p:cNvPr id="10" name="Shape 8"/>
          <p:cNvSpPr/>
          <p:nvPr/>
        </p:nvSpPr>
        <p:spPr>
          <a:xfrm>
            <a:off x="952500" y="4878586"/>
            <a:ext cx="3254276" cy="781050"/>
          </a:xfrm>
          <a:prstGeom prst="roundRect">
            <a:avLst>
              <a:gd name="adj" fmla="val 9756"/>
            </a:avLst>
          </a:prstGeom>
          <a:ln w="9525">
            <a:solidFill>
              <a:srgbClr val="D9E3EA"/>
            </a:solidFill>
            <a:prstDash val="solid"/>
          </a:ln>
        </p:spPr>
      </p:sp>
      <p:sp>
        <p:nvSpPr>
          <p:cNvPr id="11" name="Text 9"/>
          <p:cNvSpPr/>
          <p:nvPr/>
        </p:nvSpPr>
        <p:spPr>
          <a:xfrm>
            <a:off x="1209675" y="5097661"/>
            <a:ext cx="2837554"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0F3133"/>
                </a:solidFill>
                <a:latin typeface="IBM Plex Sans" pitchFamily="34" charset="0"/>
                <a:ea typeface="IBM Plex Sans" pitchFamily="34" charset="-122"/>
                <a:cs typeface="IBM Plex Sans" pitchFamily="34" charset="-120"/>
              </a:rPr>
              <a:t>Bug</a:t>
            </a:r>
            <a:endParaRPr lang="en-US" sz="2100" dirty="0"/>
          </a:p>
        </p:txBody>
      </p:sp>
      <p:sp>
        <p:nvSpPr>
          <p:cNvPr id="12" name="Text 10"/>
          <p:cNvSpPr/>
          <p:nvPr/>
        </p:nvSpPr>
        <p:spPr>
          <a:xfrm>
            <a:off x="4416326" y="5114330"/>
            <a:ext cx="958974" cy="347663"/>
          </a:xfrm>
          <a:prstGeom prst="rect">
            <a:avLst/>
          </a:prstGeom>
          <a:noFill/>
          <a:ln/>
        </p:spPr>
        <p:txBody>
          <a:bodyPr wrap="square" lIns="25400" tIns="25400" rIns="25400" bIns="25400" rtlCol="0" anchor="t">
            <a:normAutofit/>
          </a:bodyPr>
          <a:lstStyle/>
          <a:p>
            <a:pPr algn="l" indent="0" marL="0">
              <a:buNone/>
            </a:pPr>
            <a:r>
              <a:rPr lang="en-US" sz="1875" dirty="0">
                <a:solidFill>
                  <a:srgbClr val="0C93D9"/>
                </a:solidFill>
                <a:latin typeface="IBM Plex Sans" pitchFamily="34" charset="0"/>
                <a:ea typeface="IBM Plex Sans" pitchFamily="34" charset="-122"/>
                <a:cs typeface="IBM Plex Sans" pitchFamily="34" charset="-120"/>
              </a:rPr>
              <a:t>requires</a:t>
            </a:r>
            <a:endParaRPr lang="en-US" sz="1875" dirty="0"/>
          </a:p>
        </p:txBody>
      </p:sp>
      <p:sp>
        <p:nvSpPr>
          <p:cNvPr id="13" name="Shape 11"/>
          <p:cNvSpPr/>
          <p:nvPr/>
        </p:nvSpPr>
        <p:spPr>
          <a:xfrm>
            <a:off x="5508650" y="4878586"/>
            <a:ext cx="3254350" cy="781050"/>
          </a:xfrm>
          <a:prstGeom prst="roundRect">
            <a:avLst>
              <a:gd name="adj" fmla="val 9756"/>
            </a:avLst>
          </a:prstGeom>
          <a:solidFill>
            <a:srgbClr val="F6F9FB"/>
          </a:solidFill>
          <a:ln w="9525">
            <a:solidFill>
              <a:srgbClr val="D9E3EA"/>
            </a:solidFill>
            <a:prstDash val="solid"/>
          </a:ln>
        </p:spPr>
      </p:sp>
      <p:sp>
        <p:nvSpPr>
          <p:cNvPr id="14" name="Text 12"/>
          <p:cNvSpPr/>
          <p:nvPr/>
        </p:nvSpPr>
        <p:spPr>
          <a:xfrm>
            <a:off x="5765825" y="5097661"/>
            <a:ext cx="2837631" cy="381000"/>
          </a:xfrm>
          <a:prstGeom prst="rect">
            <a:avLst/>
          </a:prstGeom>
          <a:noFill/>
          <a:ln/>
        </p:spPr>
        <p:txBody>
          <a:bodyPr wrap="square" lIns="25400" tIns="25400" rIns="25400" bIns="25400" rtlCol="0" anchor="t">
            <a:normAutofit/>
          </a:bodyPr>
          <a:lstStyle/>
          <a:p>
            <a:pPr algn="l" indent="0" marL="0">
              <a:buNone/>
            </a:pPr>
            <a:r>
              <a:rPr lang="en-US" sz="2100" dirty="0">
                <a:solidFill>
                  <a:srgbClr val="0F3133"/>
                </a:solidFill>
                <a:latin typeface="IBM Plex Sans" pitchFamily="34" charset="0"/>
                <a:ea typeface="IBM Plex Sans" pitchFamily="34" charset="-122"/>
                <a:cs typeface="IBM Plex Sans" pitchFamily="34" charset="-120"/>
              </a:rPr>
              <a:t>Epic only</a:t>
            </a:r>
            <a:endParaRPr lang="en-US" sz="2100" dirty="0"/>
          </a:p>
        </p:txBody>
      </p:sp>
      <p:sp>
        <p:nvSpPr>
          <p:cNvPr id="15" name="Shape 13"/>
          <p:cNvSpPr/>
          <p:nvPr/>
        </p:nvSpPr>
        <p:spPr>
          <a:xfrm>
            <a:off x="952500" y="5831086"/>
            <a:ext cx="3254276" cy="781050"/>
          </a:xfrm>
          <a:prstGeom prst="roundRect">
            <a:avLst>
              <a:gd name="adj" fmla="val 9756"/>
            </a:avLst>
          </a:prstGeom>
          <a:ln w="9525">
            <a:solidFill>
              <a:srgbClr val="D9E3EA"/>
            </a:solidFill>
            <a:prstDash val="solid"/>
          </a:ln>
        </p:spPr>
      </p:sp>
      <p:sp>
        <p:nvSpPr>
          <p:cNvPr id="16" name="Text 14"/>
          <p:cNvSpPr/>
          <p:nvPr/>
        </p:nvSpPr>
        <p:spPr>
          <a:xfrm>
            <a:off x="1209675" y="6050161"/>
            <a:ext cx="2837554"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0F3133"/>
                </a:solidFill>
                <a:latin typeface="IBM Plex Sans" pitchFamily="34" charset="0"/>
                <a:ea typeface="IBM Plex Sans" pitchFamily="34" charset="-122"/>
                <a:cs typeface="IBM Plex Sans" pitchFamily="34" charset="-120"/>
              </a:rPr>
              <a:t>Task</a:t>
            </a:r>
            <a:endParaRPr lang="en-US" sz="2100" dirty="0"/>
          </a:p>
        </p:txBody>
      </p:sp>
      <p:sp>
        <p:nvSpPr>
          <p:cNvPr id="17" name="Text 15"/>
          <p:cNvSpPr/>
          <p:nvPr/>
        </p:nvSpPr>
        <p:spPr>
          <a:xfrm>
            <a:off x="4416326" y="6066830"/>
            <a:ext cx="958974" cy="347663"/>
          </a:xfrm>
          <a:prstGeom prst="rect">
            <a:avLst/>
          </a:prstGeom>
          <a:noFill/>
          <a:ln/>
        </p:spPr>
        <p:txBody>
          <a:bodyPr wrap="square" lIns="25400" tIns="25400" rIns="25400" bIns="25400" rtlCol="0" anchor="t">
            <a:normAutofit/>
          </a:bodyPr>
          <a:lstStyle/>
          <a:p>
            <a:pPr algn="l" indent="0" marL="0">
              <a:buNone/>
            </a:pPr>
            <a:r>
              <a:rPr lang="en-US" sz="1875" dirty="0">
                <a:solidFill>
                  <a:srgbClr val="0C93D9"/>
                </a:solidFill>
                <a:latin typeface="IBM Plex Sans" pitchFamily="34" charset="0"/>
                <a:ea typeface="IBM Plex Sans" pitchFamily="34" charset="-122"/>
                <a:cs typeface="IBM Plex Sans" pitchFamily="34" charset="-120"/>
              </a:rPr>
              <a:t>requires</a:t>
            </a:r>
            <a:endParaRPr lang="en-US" sz="1875" dirty="0"/>
          </a:p>
        </p:txBody>
      </p:sp>
      <p:sp>
        <p:nvSpPr>
          <p:cNvPr id="18" name="Shape 16"/>
          <p:cNvSpPr/>
          <p:nvPr/>
        </p:nvSpPr>
        <p:spPr>
          <a:xfrm>
            <a:off x="5508650" y="5831086"/>
            <a:ext cx="3254350" cy="781050"/>
          </a:xfrm>
          <a:prstGeom prst="roundRect">
            <a:avLst>
              <a:gd name="adj" fmla="val 9756"/>
            </a:avLst>
          </a:prstGeom>
          <a:solidFill>
            <a:srgbClr val="F6F9FB"/>
          </a:solidFill>
          <a:ln w="9525">
            <a:solidFill>
              <a:srgbClr val="D9E3EA"/>
            </a:solidFill>
            <a:prstDash val="solid"/>
          </a:ln>
        </p:spPr>
      </p:sp>
      <p:sp>
        <p:nvSpPr>
          <p:cNvPr id="19" name="Text 17"/>
          <p:cNvSpPr/>
          <p:nvPr/>
        </p:nvSpPr>
        <p:spPr>
          <a:xfrm>
            <a:off x="5765825" y="6050161"/>
            <a:ext cx="2837631" cy="381000"/>
          </a:xfrm>
          <a:prstGeom prst="rect">
            <a:avLst/>
          </a:prstGeom>
          <a:noFill/>
          <a:ln/>
        </p:spPr>
        <p:txBody>
          <a:bodyPr wrap="square" lIns="25400" tIns="25400" rIns="25400" bIns="25400" rtlCol="0" anchor="t">
            <a:normAutofit/>
          </a:bodyPr>
          <a:lstStyle/>
          <a:p>
            <a:pPr algn="l" indent="0" marL="0">
              <a:buNone/>
            </a:pPr>
            <a:r>
              <a:rPr lang="en-US" sz="2100" dirty="0">
                <a:solidFill>
                  <a:srgbClr val="0F3133"/>
                </a:solidFill>
                <a:latin typeface="IBM Plex Sans" pitchFamily="34" charset="0"/>
                <a:ea typeface="IBM Plex Sans" pitchFamily="34" charset="-122"/>
                <a:cs typeface="IBM Plex Sans" pitchFamily="34" charset="-120"/>
              </a:rPr>
              <a:t>Story</a:t>
            </a:r>
            <a:endParaRPr lang="en-US" sz="2100" dirty="0"/>
          </a:p>
        </p:txBody>
      </p:sp>
      <p:sp>
        <p:nvSpPr>
          <p:cNvPr id="20" name="Text 18"/>
          <p:cNvSpPr/>
          <p:nvPr/>
        </p:nvSpPr>
        <p:spPr>
          <a:xfrm>
            <a:off x="952500" y="6916936"/>
            <a:ext cx="8044815" cy="728663"/>
          </a:xfrm>
          <a:prstGeom prst="rect">
            <a:avLst/>
          </a:prstGeom>
          <a:noFill/>
          <a:ln/>
        </p:spPr>
        <p:txBody>
          <a:bodyPr wrap="square" lIns="25400" tIns="25400" rIns="25400" bIns="25400" rtlCol="0" anchor="t">
            <a:normAutofit/>
          </a:bodyPr>
          <a:lstStyle/>
          <a:p>
            <a:pPr algn="l" indent="0" marL="0">
              <a:lnSpc>
                <a:spcPct val="111538"/>
              </a:lnSpc>
              <a:buNone/>
            </a:pPr>
            <a:r>
              <a:rPr lang="en-US" sz="1875" dirty="0">
                <a:solidFill>
                  <a:srgbClr val="5B7178"/>
                </a:solidFill>
                <a:latin typeface="IBM Plex Sans" pitchFamily="34" charset="0"/>
                <a:ea typeface="IBM Plex Sans" pitchFamily="34" charset="-122"/>
                <a:cs typeface="IBM Plex Sans" pitchFamily="34" charset="-120"/>
              </a:rPr>
              <a:t>Start from an epic preset, a saved query, or a typed issue key — the app validates it before unlocking the form.</a:t>
            </a:r>
            <a:endParaRPr lang="en-US" sz="1875" dirty="0"/>
          </a:p>
        </p:txBody>
      </p:sp>
      <p:sp>
        <p:nvSpPr>
          <p:cNvPr id="21" name="Text 19"/>
          <p:cNvSpPr/>
          <p:nvPr/>
        </p:nvSpPr>
        <p:spPr>
          <a:xfrm>
            <a:off x="952500" y="7912298"/>
            <a:ext cx="8044815" cy="728663"/>
          </a:xfrm>
          <a:prstGeom prst="rect">
            <a:avLst/>
          </a:prstGeom>
          <a:noFill/>
          <a:ln/>
        </p:spPr>
        <p:txBody>
          <a:bodyPr wrap="square" lIns="25400" tIns="25400" rIns="25400" bIns="25400" rtlCol="0" anchor="t">
            <a:normAutofit/>
          </a:bodyPr>
          <a:lstStyle/>
          <a:p>
            <a:pPr algn="l" indent="0" marL="0">
              <a:lnSpc>
                <a:spcPct val="111538"/>
              </a:lnSpc>
              <a:buNone/>
            </a:pPr>
            <a:r>
              <a:rPr lang="en-US" sz="1875" dirty="0">
                <a:solidFill>
                  <a:srgbClr val="5B7178"/>
                </a:solidFill>
                <a:latin typeface="IBM Plex Sans" pitchFamily="34" charset="0"/>
                <a:ea typeface="IBM Plex Sans" pitchFamily="34" charset="-122"/>
                <a:cs typeface="IBM Plex Sans" pitchFamily="34" charset="-120"/>
              </a:rPr>
              <a:t>New Epics still need to be created directly in Jira — Create Issue covers Story, Bug, and Task.</a:t>
            </a:r>
            <a:endParaRPr lang="en-US" sz="1875" dirty="0"/>
          </a:p>
        </p:txBody>
      </p:sp>
      <p:sp>
        <p:nvSpPr>
          <p:cNvPr id="22" name="Text 20"/>
          <p:cNvSpPr/>
          <p:nvPr/>
        </p:nvSpPr>
        <p:spPr>
          <a:xfrm>
            <a:off x="9525000" y="3335536"/>
            <a:ext cx="8591550" cy="381000"/>
          </a:xfrm>
          <a:prstGeom prst="rect">
            <a:avLst/>
          </a:prstGeom>
          <a:noFill/>
          <a:ln/>
        </p:spPr>
        <p:txBody>
          <a:bodyPr wrap="square" lIns="25400" tIns="25400" rIns="25400" bIns="25400" rtlCol="0" anchor="t">
            <a:normAutofit/>
          </a:bodyPr>
          <a:lstStyle/>
          <a:p>
            <a:pPr algn="l" indent="0" marL="0">
              <a:buNone/>
            </a:pPr>
            <a:r>
              <a:rPr lang="en-US" sz="2100" b="1" spc="210" kern="0" dirty="0">
                <a:solidFill>
                  <a:srgbClr val="5B7178"/>
                </a:solidFill>
                <a:latin typeface="IBM Plex Sans" pitchFamily="34" charset="0"/>
                <a:ea typeface="IBM Plex Sans" pitchFamily="34" charset="-122"/>
                <a:cs typeface="IBM Plex Sans" pitchFamily="34" charset="-120"/>
              </a:rPr>
              <a:t>WHAT AI DRAFT WRITES</a:t>
            </a:r>
            <a:endParaRPr lang="en-US" sz="2100" dirty="0"/>
          </a:p>
        </p:txBody>
      </p:sp>
      <p:sp>
        <p:nvSpPr>
          <p:cNvPr id="23" name="Shape 21"/>
          <p:cNvSpPr/>
          <p:nvPr/>
        </p:nvSpPr>
        <p:spPr>
          <a:xfrm>
            <a:off x="9525000" y="3907036"/>
            <a:ext cx="7810500" cy="1681163"/>
          </a:xfrm>
          <a:prstGeom prst="roundRect">
            <a:avLst>
              <a:gd name="adj" fmla="val 5666"/>
            </a:avLst>
          </a:prstGeom>
          <a:ln w="9525">
            <a:solidFill>
              <a:srgbClr val="D9E3EA"/>
            </a:solidFill>
            <a:prstDash val="solid"/>
          </a:ln>
        </p:spPr>
      </p:sp>
      <p:sp>
        <p:nvSpPr>
          <p:cNvPr id="24" name="Text 22"/>
          <p:cNvSpPr/>
          <p:nvPr/>
        </p:nvSpPr>
        <p:spPr>
          <a:xfrm>
            <a:off x="9839325" y="4183261"/>
            <a:ext cx="7900035"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0F3133"/>
                </a:solidFill>
                <a:latin typeface="IBM Plex Sans" pitchFamily="34" charset="0"/>
                <a:ea typeface="IBM Plex Sans" pitchFamily="34" charset="-122"/>
                <a:cs typeface="IBM Plex Sans" pitchFamily="34" charset="-120"/>
              </a:rPr>
              <a:t>Story</a:t>
            </a:r>
            <a:endParaRPr lang="en-US" sz="2100" dirty="0"/>
          </a:p>
        </p:txBody>
      </p:sp>
      <p:sp>
        <p:nvSpPr>
          <p:cNvPr id="25" name="Text 23"/>
          <p:cNvSpPr/>
          <p:nvPr/>
        </p:nvSpPr>
        <p:spPr>
          <a:xfrm>
            <a:off x="9839325" y="4621411"/>
            <a:ext cx="7397306" cy="728663"/>
          </a:xfrm>
          <a:prstGeom prst="rect">
            <a:avLst/>
          </a:prstGeom>
          <a:noFill/>
          <a:ln/>
        </p:spPr>
        <p:txBody>
          <a:bodyPr wrap="square" lIns="25400" tIns="25400" rIns="25400" bIns="25400" rtlCol="0" anchor="t">
            <a:normAutofit/>
          </a:bodyPr>
          <a:lstStyle/>
          <a:p>
            <a:pPr algn="l" indent="0" marL="0">
              <a:lnSpc>
                <a:spcPct val="111538"/>
              </a:lnSpc>
              <a:buNone/>
            </a:pPr>
            <a:r>
              <a:rPr lang="en-US" sz="1875" dirty="0">
                <a:solidFill>
                  <a:srgbClr val="5B7178"/>
                </a:solidFill>
                <a:latin typeface="IBM Plex Sans" pitchFamily="34" charset="0"/>
                <a:ea typeface="IBM Plex Sans" pitchFamily="34" charset="-122"/>
                <a:cs typeface="IBM Plex Sans" pitchFamily="34" charset="-120"/>
              </a:rPr>
              <a:t>Job Story format — when, I want, so I can — plus 2–5 suggested sub-tasks as editable checkboxes.</a:t>
            </a:r>
            <a:endParaRPr lang="en-US" sz="1875" dirty="0"/>
          </a:p>
        </p:txBody>
      </p:sp>
      <p:sp>
        <p:nvSpPr>
          <p:cNvPr id="26" name="Shape 24"/>
          <p:cNvSpPr/>
          <p:nvPr/>
        </p:nvSpPr>
        <p:spPr>
          <a:xfrm>
            <a:off x="9525000" y="5816798"/>
            <a:ext cx="7810500" cy="1681163"/>
          </a:xfrm>
          <a:prstGeom prst="roundRect">
            <a:avLst>
              <a:gd name="adj" fmla="val 5666"/>
            </a:avLst>
          </a:prstGeom>
          <a:ln w="9525">
            <a:solidFill>
              <a:srgbClr val="D9E3EA"/>
            </a:solidFill>
            <a:prstDash val="solid"/>
          </a:ln>
        </p:spPr>
      </p:sp>
      <p:sp>
        <p:nvSpPr>
          <p:cNvPr id="27" name="Text 25"/>
          <p:cNvSpPr/>
          <p:nvPr/>
        </p:nvSpPr>
        <p:spPr>
          <a:xfrm>
            <a:off x="9839325" y="6093023"/>
            <a:ext cx="7900035"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0F3133"/>
                </a:solidFill>
                <a:latin typeface="IBM Plex Sans" pitchFamily="34" charset="0"/>
                <a:ea typeface="IBM Plex Sans" pitchFamily="34" charset="-122"/>
                <a:cs typeface="IBM Plex Sans" pitchFamily="34" charset="-120"/>
              </a:rPr>
              <a:t>Bug</a:t>
            </a:r>
            <a:endParaRPr lang="en-US" sz="2100" dirty="0"/>
          </a:p>
        </p:txBody>
      </p:sp>
      <p:sp>
        <p:nvSpPr>
          <p:cNvPr id="28" name="Text 26"/>
          <p:cNvSpPr/>
          <p:nvPr/>
        </p:nvSpPr>
        <p:spPr>
          <a:xfrm>
            <a:off x="9839325" y="6531173"/>
            <a:ext cx="7397306" cy="728663"/>
          </a:xfrm>
          <a:prstGeom prst="rect">
            <a:avLst/>
          </a:prstGeom>
          <a:noFill/>
          <a:ln/>
        </p:spPr>
        <p:txBody>
          <a:bodyPr wrap="square" lIns="25400" tIns="25400" rIns="25400" bIns="25400" rtlCol="0" anchor="t">
            <a:normAutofit/>
          </a:bodyPr>
          <a:lstStyle/>
          <a:p>
            <a:pPr algn="l" indent="0" marL="0">
              <a:lnSpc>
                <a:spcPct val="111538"/>
              </a:lnSpc>
              <a:buNone/>
            </a:pPr>
            <a:r>
              <a:rPr lang="en-US" sz="1875" dirty="0">
                <a:solidFill>
                  <a:srgbClr val="5B7178"/>
                </a:solidFill>
                <a:latin typeface="IBM Plex Sans" pitchFamily="34" charset="0"/>
                <a:ea typeface="IBM Plex Sans" pitchFamily="34" charset="-122"/>
                <a:cs typeface="IBM Plex Sans" pitchFamily="34" charset="-120"/>
              </a:rPr>
              <a:t>What is broken, steps, expected vs actual, environment, workaround, and a suggested priority.</a:t>
            </a:r>
            <a:endParaRPr lang="en-US" sz="1875" dirty="0"/>
          </a:p>
        </p:txBody>
      </p:sp>
      <p:sp>
        <p:nvSpPr>
          <p:cNvPr id="29" name="Shape 27"/>
          <p:cNvSpPr/>
          <p:nvPr/>
        </p:nvSpPr>
        <p:spPr>
          <a:xfrm>
            <a:off x="9525000" y="7726561"/>
            <a:ext cx="7810500" cy="1335881"/>
          </a:xfrm>
          <a:prstGeom prst="roundRect">
            <a:avLst>
              <a:gd name="adj" fmla="val 7130"/>
            </a:avLst>
          </a:prstGeom>
          <a:ln w="9525">
            <a:solidFill>
              <a:srgbClr val="D9E3EA"/>
            </a:solidFill>
            <a:prstDash val="solid"/>
          </a:ln>
        </p:spPr>
      </p:sp>
      <p:sp>
        <p:nvSpPr>
          <p:cNvPr id="30" name="Text 28"/>
          <p:cNvSpPr/>
          <p:nvPr/>
        </p:nvSpPr>
        <p:spPr>
          <a:xfrm>
            <a:off x="9839325" y="8002786"/>
            <a:ext cx="7900035"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0F3133"/>
                </a:solidFill>
                <a:latin typeface="IBM Plex Sans" pitchFamily="34" charset="0"/>
                <a:ea typeface="IBM Plex Sans" pitchFamily="34" charset="-122"/>
                <a:cs typeface="IBM Plex Sans" pitchFamily="34" charset="-120"/>
              </a:rPr>
              <a:t>Task</a:t>
            </a:r>
            <a:endParaRPr lang="en-US" sz="2100" dirty="0"/>
          </a:p>
        </p:txBody>
      </p:sp>
      <p:sp>
        <p:nvSpPr>
          <p:cNvPr id="31" name="Text 29"/>
          <p:cNvSpPr/>
          <p:nvPr/>
        </p:nvSpPr>
        <p:spPr>
          <a:xfrm>
            <a:off x="9839325" y="8440936"/>
            <a:ext cx="7900035" cy="383381"/>
          </a:xfrm>
          <a:prstGeom prst="rect">
            <a:avLst/>
          </a:prstGeom>
          <a:noFill/>
          <a:ln/>
        </p:spPr>
        <p:txBody>
          <a:bodyPr wrap="square" lIns="25400" tIns="25400" rIns="25400" bIns="25400" rtlCol="0" anchor="t">
            <a:normAutofit/>
          </a:bodyPr>
          <a:lstStyle/>
          <a:p>
            <a:pPr algn="l" indent="0" marL="0">
              <a:lnSpc>
                <a:spcPct val="111538"/>
              </a:lnSpc>
              <a:buNone/>
            </a:pPr>
            <a:r>
              <a:rPr lang="en-US" sz="1875" dirty="0">
                <a:solidFill>
                  <a:srgbClr val="5B7178"/>
                </a:solidFill>
                <a:latin typeface="IBM Plex Sans" pitchFamily="34" charset="0"/>
                <a:ea typeface="IBM Plex Sans" pitchFamily="34" charset="-122"/>
                <a:cs typeface="IBM Plex Sans" pitchFamily="34" charset="-120"/>
              </a:rPr>
              <a:t>A plain description, drafted from the ask and why it matters.</a:t>
            </a:r>
            <a:endParaRPr lang="en-US" sz="18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9FB"/>
        </a:solidFill>
      </p:bgPr>
    </p:bg>
    <p:spTree>
      <p:nvGrpSpPr>
        <p:cNvPr id="1" name=""/>
        <p:cNvGrpSpPr/>
        <p:nvPr/>
      </p:nvGrpSpPr>
      <p:grpSpPr>
        <a:xfrm>
          <a:off x="0" y="0"/>
          <a:ext cx="0" cy="0"/>
          <a:chOff x="0" y="0"/>
          <a:chExt cx="0" cy="0"/>
        </a:xfrm>
      </p:grpSpPr>
      <p:sp>
        <p:nvSpPr>
          <p:cNvPr id="2" name="Text 0"/>
          <p:cNvSpPr/>
          <p:nvPr/>
        </p:nvSpPr>
        <p:spPr>
          <a:xfrm>
            <a:off x="952500" y="952500"/>
            <a:ext cx="6286500" cy="828675"/>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0F3133"/>
                </a:solidFill>
                <a:latin typeface="IBM Plex Sans" pitchFamily="34" charset="0"/>
                <a:ea typeface="IBM Plex Sans" pitchFamily="34" charset="-122"/>
                <a:cs typeface="IBM Plex Sans" pitchFamily="34" charset="-120"/>
              </a:rPr>
              <a:t>Metrics</a:t>
            </a:r>
            <a:endParaRPr lang="en-US" sz="4800" dirty="0"/>
          </a:p>
        </p:txBody>
      </p:sp>
      <p:sp>
        <p:nvSpPr>
          <p:cNvPr id="3" name="Text 1"/>
          <p:cNvSpPr/>
          <p:nvPr/>
        </p:nvSpPr>
        <p:spPr>
          <a:xfrm>
            <a:off x="952500" y="1971675"/>
            <a:ext cx="5886450" cy="866775"/>
          </a:xfrm>
          <a:prstGeom prst="rect">
            <a:avLst/>
          </a:prstGeom>
          <a:noFill/>
          <a:ln/>
        </p:spPr>
        <p:txBody>
          <a:bodyPr wrap="square" lIns="25400" tIns="25400" rIns="25400" bIns="25400" rtlCol="0" anchor="t">
            <a:normAutofit/>
          </a:bodyPr>
          <a:lstStyle/>
          <a:p>
            <a:pPr algn="l" indent="0" marL="0">
              <a:lnSpc>
                <a:spcPct val="112987"/>
              </a:lnSpc>
              <a:buNone/>
            </a:pPr>
            <a:r>
              <a:rPr lang="en-US" sz="2250" dirty="0">
                <a:solidFill>
                  <a:srgbClr val="5B7178"/>
                </a:solidFill>
                <a:latin typeface="IBM Plex Sans" pitchFamily="34" charset="0"/>
                <a:ea typeface="IBM Plex Sans" pitchFamily="34" charset="-122"/>
                <a:cs typeface="IBM Plex Sans" pitchFamily="34" charset="-120"/>
              </a:rPr>
              <a:t>How a project is tracking, not how one issue is doing.</a:t>
            </a:r>
            <a:endParaRPr lang="en-US" sz="2250" dirty="0"/>
          </a:p>
        </p:txBody>
      </p:sp>
      <p:sp>
        <p:nvSpPr>
          <p:cNvPr id="4" name="Text 2"/>
          <p:cNvSpPr/>
          <p:nvPr/>
        </p:nvSpPr>
        <p:spPr>
          <a:xfrm>
            <a:off x="779145" y="3181350"/>
            <a:ext cx="5964555" cy="4571851"/>
          </a:xfrm>
          <a:prstGeom prst="rect">
            <a:avLst/>
          </a:prstGeom>
          <a:noFill/>
          <a:ln/>
        </p:spPr>
        <p:txBody>
          <a:bodyPr wrap="square" lIns="25400" tIns="25400" rIns="25400" bIns="25400" rtlCol="0" anchor="t">
            <a:normAutofit/>
          </a:bodyPr>
          <a:lstStyle/>
          <a:p>
            <a:pPr algn="l" indent="0" marL="0">
              <a:lnSpc>
                <a:spcPct val="108657"/>
              </a:lnSpc>
              <a:buNone/>
            </a:pPr>
            <a:r>
              <a:rPr lang="en-US" sz="1950" dirty="0">
                <a:solidFill>
                  <a:srgbClr val="0F3133"/>
                </a:solidFill>
                <a:latin typeface="IBM Plex Sans" pitchFamily="34" charset="0"/>
                <a:ea typeface="IBM Plex Sans" pitchFamily="34" charset="-122"/>
                <a:cs typeface="IBM Plex Sans" pitchFamily="34" charset="-120"/>
              </a:rPr>
              <a:t>Resolved, in progress, backlog, epics complete, open past due</a:t>
            </a:r>
            <a:endParaRPr lang="en-US" sz="1950" dirty="0"/>
          </a:p>
          <a:p>
            <a:pPr algn="l" indent="0" marL="0">
              <a:lnSpc>
                <a:spcPct val="108657"/>
              </a:lnSpc>
              <a:buNone/>
            </a:pPr>
            <a:r>
              <a:rPr lang="en-US" sz="1950" dirty="0">
                <a:solidFill>
                  <a:srgbClr val="0F3133"/>
                </a:solidFill>
                <a:latin typeface="IBM Plex Sans" pitchFamily="34" charset="0"/>
                <a:ea typeface="IBM Plex Sans" pitchFamily="34" charset="-122"/>
                <a:cs typeface="IBM Plex Sans" pitchFamily="34" charset="-120"/>
              </a:rPr>
              <a:t>Tabs per project preset, each with its own status breakdown chart</a:t>
            </a:r>
            <a:endParaRPr lang="en-US" sz="1950" dirty="0"/>
          </a:p>
          <a:p>
            <a:pPr algn="l" indent="0" marL="0">
              <a:lnSpc>
                <a:spcPct val="108657"/>
              </a:lnSpc>
              <a:buNone/>
            </a:pPr>
            <a:r>
              <a:rPr lang="en-US" sz="1950" dirty="0">
                <a:solidFill>
                  <a:srgbClr val="0F3133"/>
                </a:solidFill>
                <a:latin typeface="IBM Plex Sans" pitchFamily="34" charset="0"/>
                <a:ea typeface="IBM Plex Sans" pitchFamily="34" charset="-122"/>
                <a:cs typeface="IBM Plex Sans" pitchFamily="34" charset="-120"/>
              </a:rPr>
              <a:t>Upcoming and past-due lists, grouped by project and person</a:t>
            </a:r>
            <a:endParaRPr lang="en-US" sz="1950" dirty="0"/>
          </a:p>
          <a:p>
            <a:pPr algn="l" indent="0" marL="0">
              <a:lnSpc>
                <a:spcPct val="108657"/>
              </a:lnSpc>
              <a:buNone/>
            </a:pPr>
            <a:r>
              <a:rPr lang="en-US" sz="1950" dirty="0">
                <a:solidFill>
                  <a:srgbClr val="0F3133"/>
                </a:solidFill>
                <a:latin typeface="IBM Plex Sans" pitchFamily="34" charset="0"/>
                <a:ea typeface="IBM Plex Sans" pitchFamily="34" charset="-122"/>
                <a:cs typeface="IBM Plex Sans" pitchFamily="34" charset="-120"/>
              </a:rPr>
              <a:t>Contributor workload and overdue counts per person</a:t>
            </a:r>
            <a:endParaRPr lang="en-US" sz="1950" dirty="0"/>
          </a:p>
          <a:p>
            <a:pPr algn="l" indent="0" marL="0">
              <a:lnSpc>
                <a:spcPct val="108657"/>
              </a:lnSpc>
              <a:buNone/>
            </a:pPr>
            <a:r>
              <a:rPr lang="en-US" sz="1950" dirty="0">
                <a:solidFill>
                  <a:srgbClr val="0F3133"/>
                </a:solidFill>
                <a:latin typeface="IBM Plex Sans" pitchFamily="34" charset="0"/>
                <a:ea typeface="IBM Plex Sans" pitchFamily="34" charset="-122"/>
                <a:cs typeface="IBM Plex Sans" pitchFamily="34" charset="-120"/>
              </a:rPr>
              <a:t>Snapshot stored locally — the page loads even when Jira is slow</a:t>
            </a:r>
            <a:endParaRPr lang="en-US" sz="1950" dirty="0"/>
          </a:p>
        </p:txBody>
      </p:sp>
      <p:sp>
        <p:nvSpPr>
          <p:cNvPr id="5" name="Text 3"/>
          <p:cNvSpPr/>
          <p:nvPr/>
        </p:nvSpPr>
        <p:spPr>
          <a:xfrm>
            <a:off x="952500" y="8806904"/>
            <a:ext cx="5886450" cy="756196"/>
          </a:xfrm>
          <a:prstGeom prst="rect">
            <a:avLst/>
          </a:prstGeom>
          <a:noFill/>
          <a:ln/>
        </p:spPr>
        <p:txBody>
          <a:bodyPr wrap="square" lIns="25400" tIns="25400" rIns="25400" bIns="25400" rtlCol="0" anchor="t">
            <a:normAutofit/>
          </a:bodyPr>
          <a:lstStyle/>
          <a:p>
            <a:pPr algn="l" indent="0" marL="0">
              <a:lnSpc>
                <a:spcPct val="112537"/>
              </a:lnSpc>
              <a:buNone/>
            </a:pPr>
            <a:r>
              <a:rPr lang="en-US" sz="1950" dirty="0">
                <a:solidFill>
                  <a:srgbClr val="076EA4"/>
                </a:solidFill>
                <a:latin typeface="IBM Plex Sans" pitchFamily="34" charset="0"/>
                <a:ea typeface="IBM Plex Sans" pitchFamily="34" charset="-122"/>
                <a:cs typeface="IBM Plex Sans" pitchFamily="34" charset="-120"/>
              </a:rPr>
              <a:t>Click any issue key or name to open Task Management already filtered to it.</a:t>
            </a:r>
            <a:endParaRPr lang="en-US" sz="1950" dirty="0"/>
          </a:p>
        </p:txBody>
      </p:sp>
      <p:sp>
        <p:nvSpPr>
          <p:cNvPr id="6" name="Shape 4"/>
          <p:cNvSpPr/>
          <p:nvPr/>
        </p:nvSpPr>
        <p:spPr>
          <a:xfrm>
            <a:off x="7334250" y="1980158"/>
            <a:ext cx="10001250" cy="6517109"/>
          </a:xfrm>
          <a:prstGeom prst="roundRect">
            <a:avLst>
              <a:gd name="adj" fmla="val 1754"/>
            </a:avLst>
          </a:prstGeom>
          <a:solidFill>
            <a:srgbClr val="FFFFFF"/>
          </a:solidFill>
          <a:ln w="9525">
            <a:solidFill>
              <a:srgbClr val="D9E3EA"/>
            </a:solidFill>
            <a:prstDash val="solid"/>
          </a:ln>
        </p:spPr>
      </p:sp>
      <p:pic>
        <p:nvPicPr>
          <p:cNvPr id="7" name="Image 0" descr="preencoded.png">    </p:cNvPr>
          <p:cNvPicPr>
            <a:picLocks noChangeAspect="1"/>
          </p:cNvPicPr>
          <p:nvPr/>
        </p:nvPicPr>
        <p:blipFill>
          <a:blip r:embed="rId1"/>
          <a:stretch>
            <a:fillRect/>
          </a:stretch>
        </p:blipFill>
        <p:spPr>
          <a:xfrm>
            <a:off x="7553325" y="2199233"/>
            <a:ext cx="9563100" cy="607895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952500"/>
            <a:ext cx="18021300" cy="828675"/>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0F3133"/>
                </a:solidFill>
                <a:latin typeface="IBM Plex Sans" pitchFamily="34" charset="0"/>
                <a:ea typeface="IBM Plex Sans" pitchFamily="34" charset="-122"/>
                <a:cs typeface="IBM Plex Sans" pitchFamily="34" charset="-120"/>
              </a:rPr>
              <a:t>Reports by Audience</a:t>
            </a:r>
            <a:endParaRPr lang="en-US" sz="4800" dirty="0"/>
          </a:p>
        </p:txBody>
      </p:sp>
      <p:sp>
        <p:nvSpPr>
          <p:cNvPr id="3" name="Text 1"/>
          <p:cNvSpPr/>
          <p:nvPr/>
        </p:nvSpPr>
        <p:spPr>
          <a:xfrm>
            <a:off x="952500" y="1933575"/>
            <a:ext cx="14668500" cy="491430"/>
          </a:xfrm>
          <a:prstGeom prst="rect">
            <a:avLst/>
          </a:prstGeom>
          <a:noFill/>
          <a:ln/>
        </p:spPr>
        <p:txBody>
          <a:bodyPr wrap="square" lIns="25400" tIns="25400" rIns="25400" bIns="25400" rtlCol="0" anchor="t">
            <a:normAutofit/>
          </a:bodyPr>
          <a:lstStyle/>
          <a:p>
            <a:pPr algn="l" indent="0" marL="0">
              <a:lnSpc>
                <a:spcPct val="106966"/>
              </a:lnSpc>
              <a:buNone/>
            </a:pPr>
            <a:r>
              <a:rPr lang="en-US" sz="2550" dirty="0">
                <a:solidFill>
                  <a:srgbClr val="5B7178"/>
                </a:solidFill>
                <a:latin typeface="IBM Plex Sans" pitchFamily="34" charset="0"/>
                <a:ea typeface="IBM Plex Sans" pitchFamily="34" charset="-122"/>
                <a:cs typeface="IBM Plex Sans" pitchFamily="34" charset="-120"/>
              </a:rPr>
              <a:t>Written from the data already loaded, for the person who has to read it.</a:t>
            </a:r>
            <a:endParaRPr lang="en-US" sz="2550" dirty="0"/>
          </a:p>
        </p:txBody>
      </p:sp>
      <p:sp>
        <p:nvSpPr>
          <p:cNvPr id="4" name="Text 2"/>
          <p:cNvSpPr/>
          <p:nvPr/>
        </p:nvSpPr>
        <p:spPr>
          <a:xfrm>
            <a:off x="952500" y="2882205"/>
            <a:ext cx="6076950" cy="381000"/>
          </a:xfrm>
          <a:prstGeom prst="rect">
            <a:avLst/>
          </a:prstGeom>
          <a:noFill/>
          <a:ln/>
        </p:spPr>
        <p:txBody>
          <a:bodyPr wrap="square" lIns="25400" tIns="25400" rIns="25400" bIns="25400" rtlCol="0" anchor="t">
            <a:normAutofit/>
          </a:bodyPr>
          <a:lstStyle/>
          <a:p>
            <a:pPr algn="l" indent="0" marL="0">
              <a:buNone/>
            </a:pPr>
            <a:r>
              <a:rPr lang="en-US" sz="2100" b="1" spc="210" kern="0" dirty="0">
                <a:solidFill>
                  <a:srgbClr val="5B7178"/>
                </a:solidFill>
                <a:latin typeface="IBM Plex Sans" pitchFamily="34" charset="0"/>
                <a:ea typeface="IBM Plex Sans" pitchFamily="34" charset="-122"/>
                <a:cs typeface="IBM Plex Sans" pitchFamily="34" charset="-120"/>
              </a:rPr>
              <a:t>FROM METRICS</a:t>
            </a:r>
            <a:endParaRPr lang="en-US" sz="2100" dirty="0"/>
          </a:p>
        </p:txBody>
      </p:sp>
      <p:sp>
        <p:nvSpPr>
          <p:cNvPr id="5" name="Text 3"/>
          <p:cNvSpPr/>
          <p:nvPr/>
        </p:nvSpPr>
        <p:spPr>
          <a:xfrm>
            <a:off x="952500" y="3434655"/>
            <a:ext cx="3038475" cy="395288"/>
          </a:xfrm>
          <a:prstGeom prst="rect">
            <a:avLst/>
          </a:prstGeom>
          <a:noFill/>
          <a:ln/>
        </p:spPr>
        <p:txBody>
          <a:bodyPr wrap="square" lIns="25400" tIns="25400" rIns="25400" bIns="25400" rtlCol="0" anchor="t">
            <a:normAutofit/>
          </a:bodyPr>
          <a:lstStyle/>
          <a:p>
            <a:pPr algn="l" indent="0" marL="0">
              <a:buNone/>
            </a:pPr>
            <a:r>
              <a:rPr lang="en-US" sz="2175" b="1" dirty="0">
                <a:solidFill>
                  <a:srgbClr val="0F3133"/>
                </a:solidFill>
                <a:latin typeface="IBM Plex Sans" pitchFamily="34" charset="0"/>
                <a:ea typeface="IBM Plex Sans" pitchFamily="34" charset="-122"/>
                <a:cs typeface="IBM Plex Sans" pitchFamily="34" charset="-120"/>
              </a:rPr>
              <a:t>Executive Summary</a:t>
            </a:r>
            <a:endParaRPr lang="en-US" sz="2175" dirty="0"/>
          </a:p>
        </p:txBody>
      </p:sp>
      <p:sp>
        <p:nvSpPr>
          <p:cNvPr id="6" name="Text 4"/>
          <p:cNvSpPr/>
          <p:nvPr/>
        </p:nvSpPr>
        <p:spPr>
          <a:xfrm>
            <a:off x="3924300" y="3463230"/>
            <a:ext cx="2629281" cy="704850"/>
          </a:xfrm>
          <a:prstGeom prst="rect">
            <a:avLst/>
          </a:prstGeom>
          <a:noFill/>
          <a:ln/>
        </p:spPr>
        <p:txBody>
          <a:bodyPr wrap="square" lIns="25400" tIns="25400" rIns="25400" bIns="25400" rtlCol="0" anchor="t">
            <a:normAutofit/>
          </a:bodyPr>
          <a:lstStyle/>
          <a:p>
            <a:pPr algn="l" indent="0" marL="0">
              <a:lnSpc>
                <a:spcPct val="107692"/>
              </a:lnSpc>
              <a:buNone/>
            </a:pPr>
            <a:r>
              <a:rPr lang="en-US" sz="1875" dirty="0">
                <a:solidFill>
                  <a:srgbClr val="5B7178"/>
                </a:solidFill>
                <a:latin typeface="IBM Plex Sans" pitchFamily="34" charset="0"/>
                <a:ea typeface="IBM Plex Sans" pitchFamily="34" charset="-122"/>
                <a:cs typeface="IBM Plex Sans" pitchFamily="34" charset="-120"/>
              </a:rPr>
              <a:t>Highlights, risks, action items</a:t>
            </a:r>
            <a:endParaRPr lang="en-US" sz="1875" dirty="0"/>
          </a:p>
        </p:txBody>
      </p:sp>
      <p:sp>
        <p:nvSpPr>
          <p:cNvPr id="7" name="Shape 5"/>
          <p:cNvSpPr/>
          <p:nvPr/>
        </p:nvSpPr>
        <p:spPr>
          <a:xfrm>
            <a:off x="952500" y="4339530"/>
            <a:ext cx="5524500" cy="9525"/>
          </a:xfrm>
          <a:prstGeom prst="rect">
            <a:avLst/>
          </a:prstGeom>
          <a:solidFill>
            <a:srgbClr val="D9E3EA"/>
          </a:solidFill>
          <a:ln/>
        </p:spPr>
      </p:sp>
      <p:sp>
        <p:nvSpPr>
          <p:cNvPr id="8" name="Text 6"/>
          <p:cNvSpPr/>
          <p:nvPr/>
        </p:nvSpPr>
        <p:spPr>
          <a:xfrm>
            <a:off x="952500" y="4558605"/>
            <a:ext cx="2845118" cy="752475"/>
          </a:xfrm>
          <a:prstGeom prst="rect">
            <a:avLst/>
          </a:prstGeom>
          <a:noFill/>
          <a:ln/>
        </p:spPr>
        <p:txBody>
          <a:bodyPr wrap="square" lIns="25400" tIns="25400" rIns="25400" bIns="25400" rtlCol="0" anchor="t">
            <a:normAutofit/>
          </a:bodyPr>
          <a:lstStyle/>
          <a:p>
            <a:pPr algn="l" indent="0" marL="0">
              <a:buNone/>
            </a:pPr>
            <a:r>
              <a:rPr lang="en-US" sz="2175" b="1" dirty="0">
                <a:solidFill>
                  <a:srgbClr val="0F3133"/>
                </a:solidFill>
                <a:latin typeface="IBM Plex Sans" pitchFamily="34" charset="0"/>
                <a:ea typeface="IBM Plex Sans" pitchFamily="34" charset="-122"/>
                <a:cs typeface="IBM Plex Sans" pitchFamily="34" charset="-120"/>
              </a:rPr>
              <a:t>Product Owner Report</a:t>
            </a:r>
            <a:endParaRPr lang="en-US" sz="2175" dirty="0"/>
          </a:p>
        </p:txBody>
      </p:sp>
      <p:sp>
        <p:nvSpPr>
          <p:cNvPr id="9" name="Text 7"/>
          <p:cNvSpPr/>
          <p:nvPr/>
        </p:nvSpPr>
        <p:spPr>
          <a:xfrm>
            <a:off x="3924300" y="4587180"/>
            <a:ext cx="2629281" cy="1038225"/>
          </a:xfrm>
          <a:prstGeom prst="rect">
            <a:avLst/>
          </a:prstGeom>
          <a:noFill/>
          <a:ln/>
        </p:spPr>
        <p:txBody>
          <a:bodyPr wrap="square" lIns="25400" tIns="25400" rIns="25400" bIns="25400" rtlCol="0" anchor="t">
            <a:normAutofit/>
          </a:bodyPr>
          <a:lstStyle/>
          <a:p>
            <a:pPr algn="l" indent="0" marL="0">
              <a:lnSpc>
                <a:spcPct val="107692"/>
              </a:lnSpc>
              <a:buNone/>
            </a:pPr>
            <a:r>
              <a:rPr lang="en-US" sz="1875" dirty="0">
                <a:solidFill>
                  <a:srgbClr val="5B7178"/>
                </a:solidFill>
                <a:latin typeface="IBM Plex Sans" pitchFamily="34" charset="0"/>
                <a:ea typeface="IBM Plex Sans" pitchFamily="34" charset="-122"/>
                <a:cs typeface="IBM Plex Sans" pitchFamily="34" charset="-120"/>
              </a:rPr>
              <a:t>Feature delivery, backlog health, blockers</a:t>
            </a:r>
            <a:endParaRPr lang="en-US" sz="1875" dirty="0"/>
          </a:p>
        </p:txBody>
      </p:sp>
      <p:sp>
        <p:nvSpPr>
          <p:cNvPr id="10" name="Shape 8"/>
          <p:cNvSpPr/>
          <p:nvPr/>
        </p:nvSpPr>
        <p:spPr>
          <a:xfrm>
            <a:off x="952500" y="5796855"/>
            <a:ext cx="5524500" cy="9525"/>
          </a:xfrm>
          <a:prstGeom prst="rect">
            <a:avLst/>
          </a:prstGeom>
          <a:solidFill>
            <a:srgbClr val="D9E3EA"/>
          </a:solidFill>
          <a:ln/>
        </p:spPr>
      </p:sp>
      <p:sp>
        <p:nvSpPr>
          <p:cNvPr id="11" name="Text 9"/>
          <p:cNvSpPr/>
          <p:nvPr/>
        </p:nvSpPr>
        <p:spPr>
          <a:xfrm>
            <a:off x="952500" y="6015930"/>
            <a:ext cx="3038475" cy="395288"/>
          </a:xfrm>
          <a:prstGeom prst="rect">
            <a:avLst/>
          </a:prstGeom>
          <a:noFill/>
          <a:ln/>
        </p:spPr>
        <p:txBody>
          <a:bodyPr wrap="square" lIns="25400" tIns="25400" rIns="25400" bIns="25400" rtlCol="0" anchor="t">
            <a:normAutofit/>
          </a:bodyPr>
          <a:lstStyle/>
          <a:p>
            <a:pPr algn="l" indent="0" marL="0">
              <a:buNone/>
            </a:pPr>
            <a:r>
              <a:rPr lang="en-US" sz="2175" b="1" dirty="0">
                <a:solidFill>
                  <a:srgbClr val="0F3133"/>
                </a:solidFill>
                <a:latin typeface="IBM Plex Sans" pitchFamily="34" charset="0"/>
                <a:ea typeface="IBM Plex Sans" pitchFamily="34" charset="-122"/>
                <a:cs typeface="IBM Plex Sans" pitchFamily="34" charset="-120"/>
              </a:rPr>
              <a:t>Developer Report</a:t>
            </a:r>
            <a:endParaRPr lang="en-US" sz="2175" dirty="0"/>
          </a:p>
        </p:txBody>
      </p:sp>
      <p:sp>
        <p:nvSpPr>
          <p:cNvPr id="12" name="Text 10"/>
          <p:cNvSpPr/>
          <p:nvPr/>
        </p:nvSpPr>
        <p:spPr>
          <a:xfrm>
            <a:off x="3924300" y="6044505"/>
            <a:ext cx="2629281" cy="704850"/>
          </a:xfrm>
          <a:prstGeom prst="rect">
            <a:avLst/>
          </a:prstGeom>
          <a:noFill/>
          <a:ln/>
        </p:spPr>
        <p:txBody>
          <a:bodyPr wrap="square" lIns="25400" tIns="25400" rIns="25400" bIns="25400" rtlCol="0" anchor="t">
            <a:normAutofit/>
          </a:bodyPr>
          <a:lstStyle/>
          <a:p>
            <a:pPr algn="l" indent="0" marL="0">
              <a:lnSpc>
                <a:spcPct val="107692"/>
              </a:lnSpc>
              <a:buNone/>
            </a:pPr>
            <a:r>
              <a:rPr lang="en-US" sz="1875" dirty="0">
                <a:solidFill>
                  <a:srgbClr val="5B7178"/>
                </a:solidFill>
                <a:latin typeface="IBM Plex Sans" pitchFamily="34" charset="0"/>
                <a:ea typeface="IBM Plex Sans" pitchFamily="34" charset="-122"/>
                <a:cs typeface="IBM Plex Sans" pitchFamily="34" charset="-120"/>
              </a:rPr>
              <a:t>Team workload, overdue by person, WIP</a:t>
            </a:r>
            <a:endParaRPr lang="en-US" sz="1875" dirty="0"/>
          </a:p>
        </p:txBody>
      </p:sp>
      <p:sp>
        <p:nvSpPr>
          <p:cNvPr id="13" name="Shape 11"/>
          <p:cNvSpPr/>
          <p:nvPr/>
        </p:nvSpPr>
        <p:spPr>
          <a:xfrm>
            <a:off x="952500" y="6920805"/>
            <a:ext cx="5524500" cy="9525"/>
          </a:xfrm>
          <a:prstGeom prst="rect">
            <a:avLst/>
          </a:prstGeom>
          <a:solidFill>
            <a:srgbClr val="D9E3EA"/>
          </a:solidFill>
          <a:ln/>
        </p:spPr>
      </p:sp>
      <p:sp>
        <p:nvSpPr>
          <p:cNvPr id="14" name="Text 12"/>
          <p:cNvSpPr/>
          <p:nvPr/>
        </p:nvSpPr>
        <p:spPr>
          <a:xfrm>
            <a:off x="952500" y="7139880"/>
            <a:ext cx="3038475" cy="395288"/>
          </a:xfrm>
          <a:prstGeom prst="rect">
            <a:avLst/>
          </a:prstGeom>
          <a:noFill/>
          <a:ln/>
        </p:spPr>
        <p:txBody>
          <a:bodyPr wrap="square" lIns="25400" tIns="25400" rIns="25400" bIns="25400" rtlCol="0" anchor="t">
            <a:normAutofit/>
          </a:bodyPr>
          <a:lstStyle/>
          <a:p>
            <a:pPr algn="l" indent="0" marL="0">
              <a:buNone/>
            </a:pPr>
            <a:r>
              <a:rPr lang="en-US" sz="2175" b="1" dirty="0">
                <a:solidFill>
                  <a:srgbClr val="0F3133"/>
                </a:solidFill>
                <a:latin typeface="IBM Plex Sans" pitchFamily="34" charset="0"/>
                <a:ea typeface="IBM Plex Sans" pitchFamily="34" charset="-122"/>
                <a:cs typeface="IBM Plex Sans" pitchFamily="34" charset="-120"/>
              </a:rPr>
              <a:t>Weekly digest</a:t>
            </a:r>
            <a:endParaRPr lang="en-US" sz="2175" dirty="0"/>
          </a:p>
        </p:txBody>
      </p:sp>
      <p:sp>
        <p:nvSpPr>
          <p:cNvPr id="15" name="Text 13"/>
          <p:cNvSpPr/>
          <p:nvPr/>
        </p:nvSpPr>
        <p:spPr>
          <a:xfrm>
            <a:off x="3924300" y="7168455"/>
            <a:ext cx="2629281" cy="1038225"/>
          </a:xfrm>
          <a:prstGeom prst="rect">
            <a:avLst/>
          </a:prstGeom>
          <a:noFill/>
          <a:ln/>
        </p:spPr>
        <p:txBody>
          <a:bodyPr wrap="square" lIns="25400" tIns="25400" rIns="25400" bIns="25400" rtlCol="0" anchor="t">
            <a:normAutofit/>
          </a:bodyPr>
          <a:lstStyle/>
          <a:p>
            <a:pPr algn="l" indent="0" marL="0">
              <a:lnSpc>
                <a:spcPct val="107692"/>
              </a:lnSpc>
              <a:buNone/>
            </a:pPr>
            <a:r>
              <a:rPr lang="en-US" sz="1875" dirty="0">
                <a:solidFill>
                  <a:srgbClr val="5B7178"/>
                </a:solidFill>
                <a:latin typeface="IBM Plex Sans" pitchFamily="34" charset="0"/>
                <a:ea typeface="IBM Plex Sans" pitchFamily="34" charset="-122"/>
                <a:cs typeface="IBM Plex Sans" pitchFamily="34" charset="-120"/>
              </a:rPr>
              <a:t>Snapshot-based stand-up brief, no LLM required</a:t>
            </a:r>
            <a:endParaRPr lang="en-US" sz="1875" dirty="0"/>
          </a:p>
        </p:txBody>
      </p:sp>
      <p:sp>
        <p:nvSpPr>
          <p:cNvPr id="16" name="Text 14"/>
          <p:cNvSpPr/>
          <p:nvPr/>
        </p:nvSpPr>
        <p:spPr>
          <a:xfrm>
            <a:off x="6953250" y="2882205"/>
            <a:ext cx="6076950" cy="381000"/>
          </a:xfrm>
          <a:prstGeom prst="rect">
            <a:avLst/>
          </a:prstGeom>
          <a:noFill/>
          <a:ln/>
        </p:spPr>
        <p:txBody>
          <a:bodyPr wrap="square" lIns="25400" tIns="25400" rIns="25400" bIns="25400" rtlCol="0" anchor="t">
            <a:normAutofit/>
          </a:bodyPr>
          <a:lstStyle/>
          <a:p>
            <a:pPr algn="l" indent="0" marL="0">
              <a:buNone/>
            </a:pPr>
            <a:r>
              <a:rPr lang="en-US" sz="2100" b="1" spc="210" kern="0" dirty="0">
                <a:solidFill>
                  <a:srgbClr val="5B7178"/>
                </a:solidFill>
                <a:latin typeface="IBM Plex Sans" pitchFamily="34" charset="0"/>
                <a:ea typeface="IBM Plex Sans" pitchFamily="34" charset="-122"/>
                <a:cs typeface="IBM Plex Sans" pitchFamily="34" charset="-120"/>
              </a:rPr>
              <a:t>FROM TASK MANAGEMENT</a:t>
            </a:r>
            <a:endParaRPr lang="en-US" sz="2100" dirty="0"/>
          </a:p>
        </p:txBody>
      </p:sp>
      <p:sp>
        <p:nvSpPr>
          <p:cNvPr id="17" name="Text 15"/>
          <p:cNvSpPr/>
          <p:nvPr/>
        </p:nvSpPr>
        <p:spPr>
          <a:xfrm>
            <a:off x="6953250" y="3434655"/>
            <a:ext cx="2619375" cy="395288"/>
          </a:xfrm>
          <a:prstGeom prst="rect">
            <a:avLst/>
          </a:prstGeom>
          <a:noFill/>
          <a:ln/>
        </p:spPr>
        <p:txBody>
          <a:bodyPr wrap="square" lIns="25400" tIns="25400" rIns="25400" bIns="25400" rtlCol="0" anchor="t">
            <a:normAutofit/>
          </a:bodyPr>
          <a:lstStyle/>
          <a:p>
            <a:pPr algn="l" indent="0" marL="0">
              <a:buNone/>
            </a:pPr>
            <a:r>
              <a:rPr lang="en-US" sz="2175" b="1" dirty="0">
                <a:solidFill>
                  <a:srgbClr val="0F3133"/>
                </a:solidFill>
                <a:latin typeface="IBM Plex Sans" pitchFamily="34" charset="0"/>
                <a:ea typeface="IBM Plex Sans" pitchFamily="34" charset="-122"/>
                <a:cs typeface="IBM Plex Sans" pitchFamily="34" charset="-120"/>
              </a:rPr>
              <a:t>Status Report</a:t>
            </a:r>
            <a:endParaRPr lang="en-US" sz="2175" dirty="0"/>
          </a:p>
        </p:txBody>
      </p:sp>
      <p:sp>
        <p:nvSpPr>
          <p:cNvPr id="18" name="Text 16"/>
          <p:cNvSpPr/>
          <p:nvPr/>
        </p:nvSpPr>
        <p:spPr>
          <a:xfrm>
            <a:off x="9544050" y="3463230"/>
            <a:ext cx="3021711" cy="1038225"/>
          </a:xfrm>
          <a:prstGeom prst="rect">
            <a:avLst/>
          </a:prstGeom>
          <a:noFill/>
          <a:ln/>
        </p:spPr>
        <p:txBody>
          <a:bodyPr wrap="square" lIns="25400" tIns="25400" rIns="25400" bIns="25400" rtlCol="0" anchor="t">
            <a:normAutofit/>
          </a:bodyPr>
          <a:lstStyle/>
          <a:p>
            <a:pPr algn="l" indent="0" marL="0">
              <a:lnSpc>
                <a:spcPct val="107692"/>
              </a:lnSpc>
              <a:buNone/>
            </a:pPr>
            <a:r>
              <a:rPr lang="en-US" sz="1875" dirty="0">
                <a:solidFill>
                  <a:srgbClr val="5B7178"/>
                </a:solidFill>
                <a:latin typeface="IBM Plex Sans" pitchFamily="34" charset="0"/>
                <a:ea typeface="IBM Plex Sans" pitchFamily="34" charset="-122"/>
                <a:cs typeface="IBM Plex Sans" pitchFamily="34" charset="-120"/>
              </a:rPr>
              <a:t>How your work is tracking, what needs attention, next steps</a:t>
            </a:r>
            <a:endParaRPr lang="en-US" sz="1875" dirty="0"/>
          </a:p>
        </p:txBody>
      </p:sp>
      <p:sp>
        <p:nvSpPr>
          <p:cNvPr id="19" name="Shape 17"/>
          <p:cNvSpPr/>
          <p:nvPr/>
        </p:nvSpPr>
        <p:spPr>
          <a:xfrm>
            <a:off x="6953250" y="4672905"/>
            <a:ext cx="5524500" cy="9525"/>
          </a:xfrm>
          <a:prstGeom prst="rect">
            <a:avLst/>
          </a:prstGeom>
          <a:solidFill>
            <a:srgbClr val="D9E3EA"/>
          </a:solidFill>
          <a:ln/>
        </p:spPr>
      </p:sp>
      <p:sp>
        <p:nvSpPr>
          <p:cNvPr id="20" name="Text 18"/>
          <p:cNvSpPr/>
          <p:nvPr/>
        </p:nvSpPr>
        <p:spPr>
          <a:xfrm>
            <a:off x="6953250" y="4891980"/>
            <a:ext cx="2619375" cy="395288"/>
          </a:xfrm>
          <a:prstGeom prst="rect">
            <a:avLst/>
          </a:prstGeom>
          <a:noFill/>
          <a:ln/>
        </p:spPr>
        <p:txBody>
          <a:bodyPr wrap="square" lIns="25400" tIns="25400" rIns="25400" bIns="25400" rtlCol="0" anchor="t">
            <a:normAutofit/>
          </a:bodyPr>
          <a:lstStyle/>
          <a:p>
            <a:pPr algn="l" indent="0" marL="0">
              <a:buNone/>
            </a:pPr>
            <a:r>
              <a:rPr lang="en-US" sz="2175" b="1" dirty="0">
                <a:solidFill>
                  <a:srgbClr val="0F3133"/>
                </a:solidFill>
                <a:latin typeface="IBM Plex Sans" pitchFamily="34" charset="0"/>
                <a:ea typeface="IBM Plex Sans" pitchFamily="34" charset="-122"/>
                <a:cs typeface="IBM Plex Sans" pitchFamily="34" charset="-120"/>
              </a:rPr>
              <a:t>1:1 Prep</a:t>
            </a:r>
            <a:endParaRPr lang="en-US" sz="2175" dirty="0"/>
          </a:p>
        </p:txBody>
      </p:sp>
      <p:sp>
        <p:nvSpPr>
          <p:cNvPr id="21" name="Text 19"/>
          <p:cNvSpPr/>
          <p:nvPr/>
        </p:nvSpPr>
        <p:spPr>
          <a:xfrm>
            <a:off x="9544050" y="4920555"/>
            <a:ext cx="3021711" cy="1038225"/>
          </a:xfrm>
          <a:prstGeom prst="rect">
            <a:avLst/>
          </a:prstGeom>
          <a:noFill/>
          <a:ln/>
        </p:spPr>
        <p:txBody>
          <a:bodyPr wrap="square" lIns="25400" tIns="25400" rIns="25400" bIns="25400" rtlCol="0" anchor="t">
            <a:normAutofit/>
          </a:bodyPr>
          <a:lstStyle/>
          <a:p>
            <a:pPr algn="l" indent="0" marL="0">
              <a:lnSpc>
                <a:spcPct val="107692"/>
              </a:lnSpc>
              <a:buNone/>
            </a:pPr>
            <a:r>
              <a:rPr lang="en-US" sz="1875" dirty="0">
                <a:solidFill>
                  <a:srgbClr val="5B7178"/>
                </a:solidFill>
                <a:latin typeface="IBM Plex Sans" pitchFamily="34" charset="0"/>
                <a:ea typeface="IBM Plex Sans" pitchFamily="34" charset="-122"/>
                <a:cs typeface="IBM Plex Sans" pitchFamily="34" charset="-120"/>
              </a:rPr>
              <a:t>Workload, completion rate, blockers, what to discuss now</a:t>
            </a:r>
            <a:endParaRPr lang="en-US" sz="1875" dirty="0"/>
          </a:p>
        </p:txBody>
      </p:sp>
      <p:sp>
        <p:nvSpPr>
          <p:cNvPr id="22" name="Shape 20"/>
          <p:cNvSpPr/>
          <p:nvPr/>
        </p:nvSpPr>
        <p:spPr>
          <a:xfrm>
            <a:off x="6953250" y="6130230"/>
            <a:ext cx="5524500" cy="9525"/>
          </a:xfrm>
          <a:prstGeom prst="rect">
            <a:avLst/>
          </a:prstGeom>
          <a:solidFill>
            <a:srgbClr val="D9E3EA"/>
          </a:solidFill>
          <a:ln/>
        </p:spPr>
      </p:sp>
      <p:sp>
        <p:nvSpPr>
          <p:cNvPr id="23" name="Text 21"/>
          <p:cNvSpPr/>
          <p:nvPr/>
        </p:nvSpPr>
        <p:spPr>
          <a:xfrm>
            <a:off x="6953250" y="6349305"/>
            <a:ext cx="2619375" cy="395288"/>
          </a:xfrm>
          <a:prstGeom prst="rect">
            <a:avLst/>
          </a:prstGeom>
          <a:noFill/>
          <a:ln/>
        </p:spPr>
        <p:txBody>
          <a:bodyPr wrap="square" lIns="25400" tIns="25400" rIns="25400" bIns="25400" rtlCol="0" anchor="t">
            <a:normAutofit/>
          </a:bodyPr>
          <a:lstStyle/>
          <a:p>
            <a:pPr algn="l" indent="0" marL="0">
              <a:buNone/>
            </a:pPr>
            <a:r>
              <a:rPr lang="en-US" sz="2175" b="1" dirty="0">
                <a:solidFill>
                  <a:srgbClr val="0F3133"/>
                </a:solidFill>
                <a:latin typeface="IBM Plex Sans" pitchFamily="34" charset="0"/>
                <a:ea typeface="IBM Plex Sans" pitchFamily="34" charset="-122"/>
                <a:cs typeface="IBM Plex Sans" pitchFamily="34" charset="-120"/>
              </a:rPr>
              <a:t>PWB Review</a:t>
            </a:r>
            <a:endParaRPr lang="en-US" sz="2175" dirty="0"/>
          </a:p>
        </p:txBody>
      </p:sp>
      <p:sp>
        <p:nvSpPr>
          <p:cNvPr id="24" name="Text 22"/>
          <p:cNvSpPr/>
          <p:nvPr/>
        </p:nvSpPr>
        <p:spPr>
          <a:xfrm>
            <a:off x="9544050" y="6377880"/>
            <a:ext cx="3021711" cy="1038225"/>
          </a:xfrm>
          <a:prstGeom prst="rect">
            <a:avLst/>
          </a:prstGeom>
          <a:noFill/>
          <a:ln/>
        </p:spPr>
        <p:txBody>
          <a:bodyPr wrap="square" lIns="25400" tIns="25400" rIns="25400" bIns="25400" rtlCol="0" anchor="t">
            <a:normAutofit/>
          </a:bodyPr>
          <a:lstStyle/>
          <a:p>
            <a:pPr algn="l" indent="0" marL="0">
              <a:lnSpc>
                <a:spcPct val="107692"/>
              </a:lnSpc>
              <a:buNone/>
            </a:pPr>
            <a:r>
              <a:rPr lang="en-US" sz="1875" dirty="0">
                <a:solidFill>
                  <a:srgbClr val="5B7178"/>
                </a:solidFill>
                <a:latin typeface="IBM Plex Sans" pitchFamily="34" charset="0"/>
                <a:ea typeface="IBM Plex Sans" pitchFamily="34" charset="-122"/>
                <a:cs typeface="IBM Plex Sans" pitchFamily="34" charset="-120"/>
              </a:rPr>
              <a:t>First-person self-assessment prose for the review period</a:t>
            </a:r>
            <a:endParaRPr lang="en-US" sz="1875" dirty="0"/>
          </a:p>
        </p:txBody>
      </p:sp>
      <p:sp>
        <p:nvSpPr>
          <p:cNvPr id="25" name="Shape 23"/>
          <p:cNvSpPr/>
          <p:nvPr/>
        </p:nvSpPr>
        <p:spPr>
          <a:xfrm>
            <a:off x="6953250" y="7587555"/>
            <a:ext cx="5524500" cy="9525"/>
          </a:xfrm>
          <a:prstGeom prst="rect">
            <a:avLst/>
          </a:prstGeom>
          <a:solidFill>
            <a:srgbClr val="D9E3EA"/>
          </a:solidFill>
          <a:ln/>
        </p:spPr>
      </p:sp>
      <p:sp>
        <p:nvSpPr>
          <p:cNvPr id="26" name="Text 24"/>
          <p:cNvSpPr/>
          <p:nvPr/>
        </p:nvSpPr>
        <p:spPr>
          <a:xfrm>
            <a:off x="6953250" y="7806630"/>
            <a:ext cx="2619375" cy="395288"/>
          </a:xfrm>
          <a:prstGeom prst="rect">
            <a:avLst/>
          </a:prstGeom>
          <a:noFill/>
          <a:ln/>
        </p:spPr>
        <p:txBody>
          <a:bodyPr wrap="square" lIns="25400" tIns="25400" rIns="25400" bIns="25400" rtlCol="0" anchor="t">
            <a:normAutofit/>
          </a:bodyPr>
          <a:lstStyle/>
          <a:p>
            <a:pPr algn="l" indent="0" marL="0">
              <a:buNone/>
            </a:pPr>
            <a:r>
              <a:rPr lang="en-US" sz="2175" b="1" dirty="0">
                <a:solidFill>
                  <a:srgbClr val="0F3133"/>
                </a:solidFill>
                <a:latin typeface="IBM Plex Sans" pitchFamily="34" charset="0"/>
                <a:ea typeface="IBM Plex Sans" pitchFamily="34" charset="-122"/>
                <a:cs typeface="IBM Plex Sans" pitchFamily="34" charset="-120"/>
              </a:rPr>
              <a:t>Week plan</a:t>
            </a:r>
            <a:endParaRPr lang="en-US" sz="2175" dirty="0"/>
          </a:p>
        </p:txBody>
      </p:sp>
      <p:sp>
        <p:nvSpPr>
          <p:cNvPr id="27" name="Text 25"/>
          <p:cNvSpPr/>
          <p:nvPr/>
        </p:nvSpPr>
        <p:spPr>
          <a:xfrm>
            <a:off x="9544050" y="7835205"/>
            <a:ext cx="3021711" cy="704850"/>
          </a:xfrm>
          <a:prstGeom prst="rect">
            <a:avLst/>
          </a:prstGeom>
          <a:noFill/>
          <a:ln/>
        </p:spPr>
        <p:txBody>
          <a:bodyPr wrap="square" lIns="25400" tIns="25400" rIns="25400" bIns="25400" rtlCol="0" anchor="t">
            <a:normAutofit/>
          </a:bodyPr>
          <a:lstStyle/>
          <a:p>
            <a:pPr algn="l" indent="0" marL="0">
              <a:lnSpc>
                <a:spcPct val="107692"/>
              </a:lnSpc>
              <a:buNone/>
            </a:pPr>
            <a:r>
              <a:rPr lang="en-US" sz="1875" dirty="0">
                <a:solidFill>
                  <a:srgbClr val="5B7178"/>
                </a:solidFill>
                <a:latin typeface="IBM Plex Sans" pitchFamily="34" charset="0"/>
                <a:ea typeface="IBM Plex Sans" pitchFamily="34" charset="-122"/>
                <a:cs typeface="IBM Plex Sans" pitchFamily="34" charset="-120"/>
              </a:rPr>
              <a:t>Monday–Friday, built from your real issue keys</a:t>
            </a:r>
            <a:endParaRPr lang="en-US" sz="1875" dirty="0"/>
          </a:p>
        </p:txBody>
      </p:sp>
      <p:sp>
        <p:nvSpPr>
          <p:cNvPr id="28" name="Text 26"/>
          <p:cNvSpPr/>
          <p:nvPr/>
        </p:nvSpPr>
        <p:spPr>
          <a:xfrm>
            <a:off x="12954000" y="2882205"/>
            <a:ext cx="4819650" cy="381000"/>
          </a:xfrm>
          <a:prstGeom prst="rect">
            <a:avLst/>
          </a:prstGeom>
          <a:noFill/>
          <a:ln/>
        </p:spPr>
        <p:txBody>
          <a:bodyPr wrap="square" lIns="25400" tIns="25400" rIns="25400" bIns="25400" rtlCol="0" anchor="t">
            <a:normAutofit/>
          </a:bodyPr>
          <a:lstStyle/>
          <a:p>
            <a:pPr algn="l" indent="0" marL="0">
              <a:buNone/>
            </a:pPr>
            <a:r>
              <a:rPr lang="en-US" sz="2100" b="1" spc="210" kern="0" dirty="0">
                <a:solidFill>
                  <a:srgbClr val="5B7178"/>
                </a:solidFill>
                <a:latin typeface="IBM Plex Sans" pitchFamily="34" charset="0"/>
                <a:ea typeface="IBM Plex Sans" pitchFamily="34" charset="-122"/>
                <a:cs typeface="IBM Plex Sans" pitchFamily="34" charset="-120"/>
              </a:rPr>
              <a:t>GENERATING A REPORT</a:t>
            </a:r>
            <a:endParaRPr lang="en-US" sz="2100" dirty="0"/>
          </a:p>
        </p:txBody>
      </p:sp>
      <p:sp>
        <p:nvSpPr>
          <p:cNvPr id="29" name="Shape 27"/>
          <p:cNvSpPr/>
          <p:nvPr/>
        </p:nvSpPr>
        <p:spPr>
          <a:xfrm>
            <a:off x="12954000" y="3377505"/>
            <a:ext cx="4381500" cy="3071217"/>
          </a:xfrm>
          <a:prstGeom prst="roundRect">
            <a:avLst>
              <a:gd name="adj" fmla="val 3101"/>
            </a:avLst>
          </a:prstGeom>
          <a:solidFill>
            <a:srgbClr val="F6F9FB"/>
          </a:solidFill>
          <a:ln w="9525">
            <a:solidFill>
              <a:srgbClr val="D9E3EA"/>
            </a:solidFill>
            <a:prstDash val="solid"/>
          </a:ln>
        </p:spPr>
      </p:sp>
      <p:pic>
        <p:nvPicPr>
          <p:cNvPr id="30" name="Image 0" descr="preencoded.png">    </p:cNvPr>
          <p:cNvPicPr>
            <a:picLocks noChangeAspect="1"/>
          </p:cNvPicPr>
          <p:nvPr/>
        </p:nvPicPr>
        <p:blipFill>
          <a:blip r:embed="rId1"/>
          <a:stretch>
            <a:fillRect/>
          </a:stretch>
        </p:blipFill>
        <p:spPr>
          <a:xfrm>
            <a:off x="13096875" y="3520380"/>
            <a:ext cx="4095750" cy="2785467"/>
          </a:xfrm>
          <a:prstGeom prst="rect">
            <a:avLst/>
          </a:prstGeom>
        </p:spPr>
      </p:pic>
      <p:sp>
        <p:nvSpPr>
          <p:cNvPr id="31" name="Text 28"/>
          <p:cNvSpPr/>
          <p:nvPr/>
        </p:nvSpPr>
        <p:spPr>
          <a:xfrm>
            <a:off x="952500" y="9165952"/>
            <a:ext cx="18021300" cy="397148"/>
          </a:xfrm>
          <a:prstGeom prst="rect">
            <a:avLst/>
          </a:prstGeom>
          <a:noFill/>
          <a:ln/>
        </p:spPr>
        <p:txBody>
          <a:bodyPr wrap="square" lIns="25400" tIns="25400" rIns="25400" bIns="25400" rtlCol="0" anchor="t">
            <a:normAutofit/>
          </a:bodyPr>
          <a:lstStyle/>
          <a:p>
            <a:pPr algn="l" indent="0" marL="0">
              <a:lnSpc>
                <a:spcPct val="112537"/>
              </a:lnSpc>
              <a:buNone/>
            </a:pPr>
            <a:r>
              <a:rPr lang="en-US" sz="1950" dirty="0">
                <a:solidFill>
                  <a:srgbClr val="5B7178"/>
                </a:solidFill>
                <a:latin typeface="IBM Plex Sans" pitchFamily="34" charset="0"/>
                <a:ea typeface="IBM Plex Sans" pitchFamily="34" charset="-122"/>
                <a:cs typeface="IBM Plex Sans" pitchFamily="34" charset="-120"/>
              </a:rPr>
              <a:t>All three Task Management report types flag top-priority Backlog items that have recent comments — work happening under a stale status.</a:t>
            </a:r>
            <a:endParaRPr lang="en-US" sz="1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952500"/>
            <a:ext cx="6810375" cy="828675"/>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0F3133"/>
                </a:solidFill>
                <a:latin typeface="IBM Plex Sans" pitchFamily="34" charset="0"/>
                <a:ea typeface="IBM Plex Sans" pitchFamily="34" charset="-122"/>
                <a:cs typeface="IBM Plex Sans" pitchFamily="34" charset="-120"/>
              </a:rPr>
              <a:t>Project Managers</a:t>
            </a:r>
            <a:endParaRPr lang="en-US" sz="4800" dirty="0"/>
          </a:p>
        </p:txBody>
      </p:sp>
      <p:sp>
        <p:nvSpPr>
          <p:cNvPr id="3" name="Text 1"/>
          <p:cNvSpPr/>
          <p:nvPr/>
        </p:nvSpPr>
        <p:spPr>
          <a:xfrm>
            <a:off x="952500" y="1971675"/>
            <a:ext cx="6376988" cy="866775"/>
          </a:xfrm>
          <a:prstGeom prst="rect">
            <a:avLst/>
          </a:prstGeom>
          <a:noFill/>
          <a:ln/>
        </p:spPr>
        <p:txBody>
          <a:bodyPr wrap="square" lIns="25400" tIns="25400" rIns="25400" bIns="25400" rtlCol="0" anchor="t">
            <a:normAutofit/>
          </a:bodyPr>
          <a:lstStyle/>
          <a:p>
            <a:pPr algn="l" indent="0" marL="0">
              <a:lnSpc>
                <a:spcPct val="112987"/>
              </a:lnSpc>
              <a:buNone/>
            </a:pPr>
            <a:r>
              <a:rPr lang="en-US" sz="2250" dirty="0">
                <a:solidFill>
                  <a:srgbClr val="5B7178"/>
                </a:solidFill>
                <a:latin typeface="IBM Plex Sans" pitchFamily="34" charset="0"/>
                <a:ea typeface="IBM Plex Sans" pitchFamily="34" charset="-122"/>
                <a:cs typeface="IBM Plex Sans" pitchFamily="34" charset="-120"/>
              </a:rPr>
              <a:t>Who is over capacity, and whether their work is actually moving.</a:t>
            </a:r>
            <a:endParaRPr lang="en-US" sz="2250" dirty="0"/>
          </a:p>
        </p:txBody>
      </p:sp>
      <p:sp>
        <p:nvSpPr>
          <p:cNvPr id="4" name="Text 2"/>
          <p:cNvSpPr/>
          <p:nvPr/>
        </p:nvSpPr>
        <p:spPr>
          <a:xfrm>
            <a:off x="779145" y="3181350"/>
            <a:ext cx="6440805" cy="3531766"/>
          </a:xfrm>
          <a:prstGeom prst="rect">
            <a:avLst/>
          </a:prstGeom>
          <a:noFill/>
          <a:ln/>
        </p:spPr>
        <p:txBody>
          <a:bodyPr wrap="square" lIns="25400" tIns="25400" rIns="25400" bIns="25400" rtlCol="0" anchor="t">
            <a:normAutofit/>
          </a:bodyPr>
          <a:lstStyle/>
          <a:p>
            <a:pPr algn="l" indent="0" marL="0">
              <a:lnSpc>
                <a:spcPct val="108657"/>
              </a:lnSpc>
              <a:buNone/>
            </a:pPr>
            <a:r>
              <a:rPr lang="en-US" sz="1950" dirty="0">
                <a:solidFill>
                  <a:srgbClr val="0F3133"/>
                </a:solidFill>
                <a:latin typeface="IBM Plex Sans" pitchFamily="34" charset="0"/>
                <a:ea typeface="IBM Plex Sans" pitchFamily="34" charset="-122"/>
                <a:cs typeface="IBM Plex Sans" pitchFamily="34" charset="-120"/>
              </a:rPr>
              <a:t>Open issue count against an optional capacity target</a:t>
            </a:r>
            <a:endParaRPr lang="en-US" sz="1950" dirty="0"/>
          </a:p>
          <a:p>
            <a:pPr algn="l" indent="0" marL="0">
              <a:lnSpc>
                <a:spcPct val="108657"/>
              </a:lnSpc>
              <a:buNone/>
            </a:pPr>
            <a:r>
              <a:rPr lang="en-US" sz="1950" dirty="0">
                <a:solidFill>
                  <a:srgbClr val="0F3133"/>
                </a:solidFill>
                <a:latin typeface="IBM Plex Sans" pitchFamily="34" charset="0"/>
                <a:ea typeface="IBM Plex Sans" pitchFamily="34" charset="-122"/>
                <a:cs typeface="IBM Plex Sans" pitchFamily="34" charset="-120"/>
              </a:rPr>
              <a:t>Risk signals — overdue, blocked, stale at 14 days or more</a:t>
            </a:r>
            <a:endParaRPr lang="en-US" sz="1950" dirty="0"/>
          </a:p>
          <a:p>
            <a:pPr algn="l" indent="0" marL="0">
              <a:lnSpc>
                <a:spcPct val="108657"/>
              </a:lnSpc>
              <a:buNone/>
            </a:pPr>
            <a:r>
              <a:rPr lang="en-US" sz="1950" dirty="0">
                <a:solidFill>
                  <a:srgbClr val="0F3133"/>
                </a:solidFill>
                <a:latin typeface="IBM Plex Sans" pitchFamily="34" charset="0"/>
                <a:ea typeface="IBM Plex Sans" pitchFamily="34" charset="-122"/>
                <a:cs typeface="IBM Plex Sans" pitchFamily="34" charset="-120"/>
              </a:rPr>
              <a:t>Status and assignee breakdown per tracked entry</a:t>
            </a:r>
            <a:endParaRPr lang="en-US" sz="1950" dirty="0"/>
          </a:p>
          <a:p>
            <a:pPr algn="l" indent="0" marL="0">
              <a:lnSpc>
                <a:spcPct val="108657"/>
              </a:lnSpc>
              <a:buNone/>
            </a:pPr>
            <a:r>
              <a:rPr lang="en-US" sz="1950" dirty="0">
                <a:solidFill>
                  <a:srgbClr val="0F3133"/>
                </a:solidFill>
                <a:latin typeface="IBM Plex Sans" pitchFamily="34" charset="0"/>
                <a:ea typeface="IBM Plex Sans" pitchFamily="34" charset="-122"/>
                <a:cs typeface="IBM Plex Sans" pitchFamily="34" charset="-120"/>
              </a:rPr>
              <a:t>People, reporter watches, saved presets, or custom JQL groups</a:t>
            </a:r>
            <a:endParaRPr lang="en-US" sz="1950" dirty="0"/>
          </a:p>
          <a:p>
            <a:pPr algn="l" indent="0" marL="0">
              <a:lnSpc>
                <a:spcPct val="108657"/>
              </a:lnSpc>
              <a:buNone/>
            </a:pPr>
            <a:r>
              <a:rPr lang="en-US" sz="1950" dirty="0">
                <a:solidFill>
                  <a:srgbClr val="0F3133"/>
                </a:solidFill>
                <a:latin typeface="IBM Plex Sans" pitchFamily="34" charset="0"/>
                <a:ea typeface="IBM Plex Sans" pitchFamily="34" charset="-122"/>
                <a:cs typeface="IBM Plex Sans" pitchFamily="34" charset="-120"/>
              </a:rPr>
              <a:t>Download as .md or .csv, or Save to Reports</a:t>
            </a:r>
            <a:endParaRPr lang="en-US" sz="1950" dirty="0"/>
          </a:p>
        </p:txBody>
      </p:sp>
      <p:sp>
        <p:nvSpPr>
          <p:cNvPr id="5" name="Text 3"/>
          <p:cNvSpPr/>
          <p:nvPr/>
        </p:nvSpPr>
        <p:spPr>
          <a:xfrm>
            <a:off x="952500" y="8806904"/>
            <a:ext cx="6376988" cy="756196"/>
          </a:xfrm>
          <a:prstGeom prst="rect">
            <a:avLst/>
          </a:prstGeom>
          <a:noFill/>
          <a:ln/>
        </p:spPr>
        <p:txBody>
          <a:bodyPr wrap="square" lIns="25400" tIns="25400" rIns="25400" bIns="25400" rtlCol="0" anchor="t">
            <a:normAutofit/>
          </a:bodyPr>
          <a:lstStyle/>
          <a:p>
            <a:pPr algn="l" indent="0" marL="0">
              <a:lnSpc>
                <a:spcPct val="112537"/>
              </a:lnSpc>
              <a:buNone/>
            </a:pPr>
            <a:r>
              <a:rPr lang="en-US" sz="1950" dirty="0">
                <a:solidFill>
                  <a:srgbClr val="5B7178"/>
                </a:solidFill>
                <a:latin typeface="IBM Plex Sans" pitchFamily="34" charset="0"/>
                <a:ea typeface="IBM Plex Sans" pitchFamily="34" charset="-122"/>
                <a:cs typeface="IBM Plex Sans" pitchFamily="34" charset="-120"/>
              </a:rPr>
              <a:t>A raw count does not say whether work is moving. The breakdown does.</a:t>
            </a:r>
            <a:endParaRPr lang="en-US" sz="1950" dirty="0"/>
          </a:p>
        </p:txBody>
      </p:sp>
      <p:sp>
        <p:nvSpPr>
          <p:cNvPr id="6" name="Shape 4"/>
          <p:cNvSpPr/>
          <p:nvPr/>
        </p:nvSpPr>
        <p:spPr>
          <a:xfrm>
            <a:off x="7810500" y="1894061"/>
            <a:ext cx="9525000" cy="6689378"/>
          </a:xfrm>
          <a:prstGeom prst="roundRect">
            <a:avLst>
              <a:gd name="adj" fmla="val 1709"/>
            </a:avLst>
          </a:prstGeom>
          <a:solidFill>
            <a:srgbClr val="F6F9FB"/>
          </a:solidFill>
          <a:ln w="9525">
            <a:solidFill>
              <a:srgbClr val="D9E3EA"/>
            </a:solidFill>
            <a:prstDash val="solid"/>
          </a:ln>
        </p:spPr>
      </p:sp>
      <p:pic>
        <p:nvPicPr>
          <p:cNvPr id="7" name="Image 0" descr="preencoded.png">    </p:cNvPr>
          <p:cNvPicPr>
            <a:picLocks noChangeAspect="1"/>
          </p:cNvPicPr>
          <p:nvPr/>
        </p:nvPicPr>
        <p:blipFill>
          <a:blip r:embed="rId1"/>
          <a:stretch>
            <a:fillRect/>
          </a:stretch>
        </p:blipFill>
        <p:spPr>
          <a:xfrm>
            <a:off x="8029575" y="2113136"/>
            <a:ext cx="9086850" cy="625122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9FB"/>
        </a:solidFill>
      </p:bgPr>
    </p:bg>
    <p:spTree>
      <p:nvGrpSpPr>
        <p:cNvPr id="1" name=""/>
        <p:cNvGrpSpPr/>
        <p:nvPr/>
      </p:nvGrpSpPr>
      <p:grpSpPr>
        <a:xfrm>
          <a:off x="0" y="0"/>
          <a:ext cx="0" cy="0"/>
          <a:chOff x="0" y="0"/>
          <a:chExt cx="0" cy="0"/>
        </a:xfrm>
      </p:grpSpPr>
      <p:sp>
        <p:nvSpPr>
          <p:cNvPr id="2" name="Text 0"/>
          <p:cNvSpPr/>
          <p:nvPr/>
        </p:nvSpPr>
        <p:spPr>
          <a:xfrm>
            <a:off x="952500" y="952500"/>
            <a:ext cx="18021300" cy="828675"/>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0F3133"/>
                </a:solidFill>
                <a:latin typeface="IBM Plex Sans" pitchFamily="34" charset="0"/>
                <a:ea typeface="IBM Plex Sans" pitchFamily="34" charset="-122"/>
                <a:cs typeface="IBM Plex Sans" pitchFamily="34" charset="-120"/>
              </a:rPr>
              <a:t>Past Reports and Chat</a:t>
            </a:r>
            <a:endParaRPr lang="en-US" sz="4800" dirty="0"/>
          </a:p>
        </p:txBody>
      </p:sp>
      <p:sp>
        <p:nvSpPr>
          <p:cNvPr id="3" name="Text 1"/>
          <p:cNvSpPr/>
          <p:nvPr/>
        </p:nvSpPr>
        <p:spPr>
          <a:xfrm>
            <a:off x="952500" y="1933575"/>
            <a:ext cx="14668500" cy="491430"/>
          </a:xfrm>
          <a:prstGeom prst="rect">
            <a:avLst/>
          </a:prstGeom>
          <a:noFill/>
          <a:ln/>
        </p:spPr>
        <p:txBody>
          <a:bodyPr wrap="square" lIns="25400" tIns="25400" rIns="25400" bIns="25400" rtlCol="0" anchor="t">
            <a:normAutofit/>
          </a:bodyPr>
          <a:lstStyle/>
          <a:p>
            <a:pPr algn="l" indent="0" marL="0">
              <a:lnSpc>
                <a:spcPct val="106966"/>
              </a:lnSpc>
              <a:buNone/>
            </a:pPr>
            <a:r>
              <a:rPr lang="en-US" sz="2550" dirty="0">
                <a:solidFill>
                  <a:srgbClr val="5B7178"/>
                </a:solidFill>
                <a:latin typeface="IBM Plex Sans" pitchFamily="34" charset="0"/>
                <a:ea typeface="IBM Plex Sans" pitchFamily="34" charset="-122"/>
                <a:cs typeface="IBM Plex Sans" pitchFamily="34" charset="-120"/>
              </a:rPr>
              <a:t>Everything generated is kept, and can be asked about in plain language.</a:t>
            </a:r>
            <a:endParaRPr lang="en-US" sz="2550" dirty="0"/>
          </a:p>
        </p:txBody>
      </p:sp>
      <p:sp>
        <p:nvSpPr>
          <p:cNvPr id="4" name="Shape 2"/>
          <p:cNvSpPr/>
          <p:nvPr/>
        </p:nvSpPr>
        <p:spPr>
          <a:xfrm>
            <a:off x="952500" y="2882205"/>
            <a:ext cx="8001000" cy="7263705"/>
          </a:xfrm>
          <a:prstGeom prst="roundRect">
            <a:avLst>
              <a:gd name="adj" fmla="val 1574"/>
            </a:avLst>
          </a:prstGeom>
          <a:solidFill>
            <a:srgbClr val="FFFFFF"/>
          </a:solidFill>
          <a:ln w="9525">
            <a:solidFill>
              <a:srgbClr val="D9E3EA"/>
            </a:solidFill>
            <a:prstDash val="solid"/>
          </a:ln>
        </p:spPr>
      </p:sp>
      <p:sp>
        <p:nvSpPr>
          <p:cNvPr id="5" name="Text 3"/>
          <p:cNvSpPr/>
          <p:nvPr/>
        </p:nvSpPr>
        <p:spPr>
          <a:xfrm>
            <a:off x="1343025" y="3310830"/>
            <a:ext cx="7941945" cy="485775"/>
          </a:xfrm>
          <a:prstGeom prst="rect">
            <a:avLst/>
          </a:prstGeom>
          <a:noFill/>
          <a:ln/>
        </p:spPr>
        <p:txBody>
          <a:bodyPr wrap="square" lIns="25400" tIns="25400" rIns="25400" bIns="25400" rtlCol="0" anchor="t">
            <a:normAutofit/>
          </a:bodyPr>
          <a:lstStyle/>
          <a:p>
            <a:pPr algn="l" indent="0" marL="0">
              <a:buNone/>
            </a:pPr>
            <a:r>
              <a:rPr lang="en-US" sz="2700" b="1" dirty="0">
                <a:solidFill>
                  <a:srgbClr val="0F3133"/>
                </a:solidFill>
                <a:latin typeface="IBM Plex Sans" pitchFamily="34" charset="0"/>
                <a:ea typeface="IBM Plex Sans" pitchFamily="34" charset="-122"/>
                <a:cs typeface="IBM Plex Sans" pitchFamily="34" charset="-120"/>
              </a:rPr>
              <a:t>Past Reports</a:t>
            </a:r>
            <a:endParaRPr lang="en-US" sz="2700" dirty="0"/>
          </a:p>
        </p:txBody>
      </p:sp>
      <p:sp>
        <p:nvSpPr>
          <p:cNvPr id="6" name="Text 4"/>
          <p:cNvSpPr/>
          <p:nvPr/>
        </p:nvSpPr>
        <p:spPr>
          <a:xfrm>
            <a:off x="1343025" y="3968055"/>
            <a:ext cx="7436549" cy="1078185"/>
          </a:xfrm>
          <a:prstGeom prst="rect">
            <a:avLst/>
          </a:prstGeom>
          <a:noFill/>
          <a:ln/>
        </p:spPr>
        <p:txBody>
          <a:bodyPr wrap="square" lIns="25400" tIns="25400" rIns="25400" bIns="25400" rtlCol="0" anchor="t">
            <a:normAutofit/>
          </a:bodyPr>
          <a:lstStyle/>
          <a:p>
            <a:pPr algn="l" indent="0" marL="0">
              <a:lnSpc>
                <a:spcPct val="108657"/>
              </a:lnSpc>
              <a:buNone/>
            </a:pPr>
            <a:r>
              <a:rPr lang="en-US" sz="1950" dirty="0">
                <a:solidFill>
                  <a:srgbClr val="5B7178"/>
                </a:solidFill>
                <a:latin typeface="IBM Plex Sans" pitchFamily="34" charset="0"/>
                <a:ea typeface="IBM Plex Sans" pitchFamily="34" charset="-122"/>
                <a:cs typeface="IBM Plex Sans" pitchFamily="34" charset="-120"/>
              </a:rPr>
              <a:t>Project reports and week plans, audience reports, saved Chat replies, and CoWork weekly-plan files — archived on this machine as they are generated.</a:t>
            </a:r>
            <a:endParaRPr lang="en-US" sz="1950" dirty="0"/>
          </a:p>
        </p:txBody>
      </p:sp>
      <p:sp>
        <p:nvSpPr>
          <p:cNvPr id="7" name="Shape 5"/>
          <p:cNvSpPr/>
          <p:nvPr/>
        </p:nvSpPr>
        <p:spPr>
          <a:xfrm>
            <a:off x="1343025" y="5217691"/>
            <a:ext cx="7219950" cy="3650084"/>
          </a:xfrm>
          <a:prstGeom prst="roundRect">
            <a:avLst>
              <a:gd name="adj" fmla="val 2610"/>
            </a:avLst>
          </a:prstGeom>
          <a:solidFill>
            <a:srgbClr val="F6F9FB"/>
          </a:solidFill>
          <a:ln w="9525">
            <a:solidFill>
              <a:srgbClr val="D9E3EA"/>
            </a:solidFill>
            <a:prstDash val="solid"/>
          </a:ln>
        </p:spPr>
      </p:sp>
      <p:pic>
        <p:nvPicPr>
          <p:cNvPr id="8" name="Image 0" descr="preencoded.png">    </p:cNvPr>
          <p:cNvPicPr>
            <a:picLocks noChangeAspect="1"/>
          </p:cNvPicPr>
          <p:nvPr/>
        </p:nvPicPr>
        <p:blipFill>
          <a:blip r:embed="rId1"/>
          <a:stretch>
            <a:fillRect/>
          </a:stretch>
        </p:blipFill>
        <p:spPr>
          <a:xfrm>
            <a:off x="1466850" y="5341516"/>
            <a:ext cx="6972300" cy="3402434"/>
          </a:xfrm>
          <a:prstGeom prst="rect">
            <a:avLst/>
          </a:prstGeom>
        </p:spPr>
      </p:pic>
      <p:sp>
        <p:nvSpPr>
          <p:cNvPr id="9" name="Text 6"/>
          <p:cNvSpPr/>
          <p:nvPr/>
        </p:nvSpPr>
        <p:spPr>
          <a:xfrm>
            <a:off x="1343025" y="9077325"/>
            <a:ext cx="7436549" cy="678061"/>
          </a:xfrm>
          <a:prstGeom prst="rect">
            <a:avLst/>
          </a:prstGeom>
          <a:noFill/>
          <a:ln/>
        </p:spPr>
        <p:txBody>
          <a:bodyPr wrap="square" lIns="25400" tIns="25400" rIns="25400" bIns="25400" rtlCol="0" anchor="t">
            <a:normAutofit/>
          </a:bodyPr>
          <a:lstStyle/>
          <a:p>
            <a:pPr algn="l" indent="0" marL="0">
              <a:lnSpc>
                <a:spcPct val="108387"/>
              </a:lnSpc>
              <a:buNone/>
            </a:pPr>
            <a:r>
              <a:rPr lang="en-US" sz="1800" dirty="0">
                <a:solidFill>
                  <a:srgbClr val="5B7178"/>
                </a:solidFill>
                <a:latin typeface="IBM Plex Sans" pitchFamily="34" charset="0"/>
                <a:ea typeface="IBM Plex Sans" pitchFamily="34" charset="-122"/>
                <a:cs typeface="IBM Plex Sans" pitchFamily="34" charset="-120"/>
              </a:rPr>
              <a:t>View, copy, download, or delete. Clearing a report from a page never deletes the archived copy.</a:t>
            </a:r>
            <a:endParaRPr lang="en-US" sz="1800" dirty="0"/>
          </a:p>
        </p:txBody>
      </p:sp>
      <p:sp>
        <p:nvSpPr>
          <p:cNvPr id="10" name="Shape 7"/>
          <p:cNvSpPr/>
          <p:nvPr/>
        </p:nvSpPr>
        <p:spPr>
          <a:xfrm>
            <a:off x="9334500" y="2882205"/>
            <a:ext cx="8001000" cy="7263705"/>
          </a:xfrm>
          <a:prstGeom prst="roundRect">
            <a:avLst>
              <a:gd name="adj" fmla="val 1574"/>
            </a:avLst>
          </a:prstGeom>
          <a:solidFill>
            <a:srgbClr val="FFFFFF"/>
          </a:solidFill>
          <a:ln w="9525">
            <a:solidFill>
              <a:srgbClr val="D9E3EA"/>
            </a:solidFill>
            <a:prstDash val="solid"/>
          </a:ln>
        </p:spPr>
      </p:sp>
      <p:sp>
        <p:nvSpPr>
          <p:cNvPr id="11" name="Text 8"/>
          <p:cNvSpPr/>
          <p:nvPr/>
        </p:nvSpPr>
        <p:spPr>
          <a:xfrm>
            <a:off x="9725025" y="3310830"/>
            <a:ext cx="7941945" cy="485775"/>
          </a:xfrm>
          <a:prstGeom prst="rect">
            <a:avLst/>
          </a:prstGeom>
          <a:noFill/>
          <a:ln/>
        </p:spPr>
        <p:txBody>
          <a:bodyPr wrap="square" lIns="25400" tIns="25400" rIns="25400" bIns="25400" rtlCol="0" anchor="t">
            <a:normAutofit/>
          </a:bodyPr>
          <a:lstStyle/>
          <a:p>
            <a:pPr algn="l" indent="0" marL="0">
              <a:buNone/>
            </a:pPr>
            <a:r>
              <a:rPr lang="en-US" sz="2700" b="1" dirty="0">
                <a:solidFill>
                  <a:srgbClr val="0F3133"/>
                </a:solidFill>
                <a:latin typeface="IBM Plex Sans" pitchFamily="34" charset="0"/>
                <a:ea typeface="IBM Plex Sans" pitchFamily="34" charset="-122"/>
                <a:cs typeface="IBM Plex Sans" pitchFamily="34" charset="-120"/>
              </a:rPr>
              <a:t>Chat</a:t>
            </a:r>
            <a:endParaRPr lang="en-US" sz="2700" dirty="0"/>
          </a:p>
        </p:txBody>
      </p:sp>
      <p:sp>
        <p:nvSpPr>
          <p:cNvPr id="12" name="Text 9"/>
          <p:cNvSpPr/>
          <p:nvPr/>
        </p:nvSpPr>
        <p:spPr>
          <a:xfrm>
            <a:off x="9725025" y="3968055"/>
            <a:ext cx="7436549" cy="1156767"/>
          </a:xfrm>
          <a:prstGeom prst="rect">
            <a:avLst/>
          </a:prstGeom>
          <a:noFill/>
          <a:ln/>
        </p:spPr>
        <p:txBody>
          <a:bodyPr wrap="square" lIns="25400" tIns="25400" rIns="25400" bIns="25400" rtlCol="0" anchor="t">
            <a:normAutofit/>
          </a:bodyPr>
          <a:lstStyle/>
          <a:p>
            <a:pPr algn="l" indent="0" marL="0">
              <a:lnSpc>
                <a:spcPct val="111857"/>
              </a:lnSpc>
              <a:buNone/>
            </a:pPr>
            <a:r>
              <a:rPr lang="en-US" sz="2025" dirty="0">
                <a:solidFill>
                  <a:srgbClr val="5B7178"/>
                </a:solidFill>
                <a:latin typeface="IBM Plex Sans" pitchFamily="34" charset="0"/>
                <a:ea typeface="IBM Plex Sans" pitchFamily="34" charset="-122"/>
                <a:cs typeface="IBM Plex Sans" pitchFamily="34" charset="-120"/>
              </a:rPr>
              <a:t>Questions answered from your preset selection, the last JQL run, the latest Metrics snapshot, and the reports already in the session.</a:t>
            </a:r>
            <a:endParaRPr lang="en-US" sz="2025" dirty="0"/>
          </a:p>
        </p:txBody>
      </p:sp>
      <p:sp>
        <p:nvSpPr>
          <p:cNvPr id="13" name="Shape 10"/>
          <p:cNvSpPr/>
          <p:nvPr/>
        </p:nvSpPr>
        <p:spPr>
          <a:xfrm>
            <a:off x="9725025" y="5296272"/>
            <a:ext cx="7219950" cy="689595"/>
          </a:xfrm>
          <a:prstGeom prst="roundRect">
            <a:avLst>
              <a:gd name="adj" fmla="val 13812"/>
            </a:avLst>
          </a:prstGeom>
          <a:solidFill>
            <a:srgbClr val="F6F9FB"/>
          </a:solidFill>
          <a:ln/>
        </p:spPr>
      </p:sp>
      <p:sp>
        <p:nvSpPr>
          <p:cNvPr id="14" name="Text 11"/>
          <p:cNvSpPr/>
          <p:nvPr/>
        </p:nvSpPr>
        <p:spPr>
          <a:xfrm>
            <a:off x="9934575" y="5467722"/>
            <a:ext cx="7017449" cy="384795"/>
          </a:xfrm>
          <a:prstGeom prst="rect">
            <a:avLst/>
          </a:prstGeom>
          <a:noFill/>
          <a:ln/>
        </p:spPr>
        <p:txBody>
          <a:bodyPr wrap="square" lIns="25400" tIns="25400" rIns="25400" bIns="25400" rtlCol="0" anchor="t">
            <a:normAutofit/>
          </a:bodyPr>
          <a:lstStyle/>
          <a:p>
            <a:pPr algn="l" indent="0" marL="0">
              <a:lnSpc>
                <a:spcPct val="108657"/>
              </a:lnSpc>
              <a:buNone/>
            </a:pPr>
            <a:r>
              <a:rPr lang="en-US" sz="1950" dirty="0">
                <a:solidFill>
                  <a:srgbClr val="0F3133"/>
                </a:solidFill>
                <a:latin typeface="IBM Plex Sans" pitchFamily="34" charset="0"/>
                <a:ea typeface="IBM Plex Sans" pitchFamily="34" charset="-122"/>
                <a:cs typeface="IBM Plex Sans" pitchFamily="34" charset="-120"/>
              </a:rPr>
              <a:t>“Which epics are past due?”</a:t>
            </a:r>
            <a:endParaRPr lang="en-US" sz="1950" dirty="0"/>
          </a:p>
        </p:txBody>
      </p:sp>
      <p:sp>
        <p:nvSpPr>
          <p:cNvPr id="15" name="Shape 12"/>
          <p:cNvSpPr/>
          <p:nvPr/>
        </p:nvSpPr>
        <p:spPr>
          <a:xfrm>
            <a:off x="9725025" y="6119217"/>
            <a:ext cx="7219950" cy="689595"/>
          </a:xfrm>
          <a:prstGeom prst="roundRect">
            <a:avLst>
              <a:gd name="adj" fmla="val 13812"/>
            </a:avLst>
          </a:prstGeom>
          <a:solidFill>
            <a:srgbClr val="F6F9FB"/>
          </a:solidFill>
          <a:ln/>
        </p:spPr>
      </p:sp>
      <p:sp>
        <p:nvSpPr>
          <p:cNvPr id="16" name="Text 13"/>
          <p:cNvSpPr/>
          <p:nvPr/>
        </p:nvSpPr>
        <p:spPr>
          <a:xfrm>
            <a:off x="9934575" y="6290667"/>
            <a:ext cx="7017449" cy="384795"/>
          </a:xfrm>
          <a:prstGeom prst="rect">
            <a:avLst/>
          </a:prstGeom>
          <a:noFill/>
          <a:ln/>
        </p:spPr>
        <p:txBody>
          <a:bodyPr wrap="square" lIns="25400" tIns="25400" rIns="25400" bIns="25400" rtlCol="0" anchor="t">
            <a:normAutofit/>
          </a:bodyPr>
          <a:lstStyle/>
          <a:p>
            <a:pPr algn="l" indent="0" marL="0">
              <a:lnSpc>
                <a:spcPct val="108657"/>
              </a:lnSpc>
              <a:buNone/>
            </a:pPr>
            <a:r>
              <a:rPr lang="en-US" sz="1950" dirty="0">
                <a:solidFill>
                  <a:srgbClr val="0F3133"/>
                </a:solidFill>
                <a:latin typeface="IBM Plex Sans" pitchFamily="34" charset="0"/>
                <a:ea typeface="IBM Plex Sans" pitchFamily="34" charset="-122"/>
                <a:cs typeface="IBM Plex Sans" pitchFamily="34" charset="-120"/>
              </a:rPr>
              <a:t>“Who has the most overdue tasks in my My Work query?”</a:t>
            </a:r>
            <a:endParaRPr lang="en-US" sz="1950" dirty="0"/>
          </a:p>
        </p:txBody>
      </p:sp>
      <p:sp>
        <p:nvSpPr>
          <p:cNvPr id="17" name="Shape 14"/>
          <p:cNvSpPr/>
          <p:nvPr/>
        </p:nvSpPr>
        <p:spPr>
          <a:xfrm>
            <a:off x="9725025" y="6942162"/>
            <a:ext cx="7219950" cy="689595"/>
          </a:xfrm>
          <a:prstGeom prst="roundRect">
            <a:avLst>
              <a:gd name="adj" fmla="val 13812"/>
            </a:avLst>
          </a:prstGeom>
          <a:solidFill>
            <a:srgbClr val="F6F9FB"/>
          </a:solidFill>
          <a:ln/>
        </p:spPr>
      </p:sp>
      <p:sp>
        <p:nvSpPr>
          <p:cNvPr id="18" name="Text 15"/>
          <p:cNvSpPr/>
          <p:nvPr/>
        </p:nvSpPr>
        <p:spPr>
          <a:xfrm>
            <a:off x="9934575" y="7113612"/>
            <a:ext cx="7017449" cy="384795"/>
          </a:xfrm>
          <a:prstGeom prst="rect">
            <a:avLst/>
          </a:prstGeom>
          <a:noFill/>
          <a:ln/>
        </p:spPr>
        <p:txBody>
          <a:bodyPr wrap="square" lIns="25400" tIns="25400" rIns="25400" bIns="25400" rtlCol="0" anchor="t">
            <a:normAutofit/>
          </a:bodyPr>
          <a:lstStyle/>
          <a:p>
            <a:pPr algn="l" indent="0" marL="0">
              <a:lnSpc>
                <a:spcPct val="108657"/>
              </a:lnSpc>
              <a:buNone/>
            </a:pPr>
            <a:r>
              <a:rPr lang="en-US" sz="1950" dirty="0">
                <a:solidFill>
                  <a:srgbClr val="0F3133"/>
                </a:solidFill>
                <a:latin typeface="IBM Plex Sans" pitchFamily="34" charset="0"/>
                <a:ea typeface="IBM Plex Sans" pitchFamily="34" charset="-122"/>
                <a:cs typeface="IBM Plex Sans" pitchFamily="34" charset="-120"/>
              </a:rPr>
              <a:t>“What did my week plan say about Tuesday?”</a:t>
            </a:r>
            <a:endParaRPr lang="en-US" sz="1950" dirty="0"/>
          </a:p>
        </p:txBody>
      </p:sp>
      <p:sp>
        <p:nvSpPr>
          <p:cNvPr id="19" name="Text 16"/>
          <p:cNvSpPr/>
          <p:nvPr/>
        </p:nvSpPr>
        <p:spPr>
          <a:xfrm>
            <a:off x="9725025" y="7841307"/>
            <a:ext cx="7436549" cy="728663"/>
          </a:xfrm>
          <a:prstGeom prst="rect">
            <a:avLst/>
          </a:prstGeom>
          <a:noFill/>
          <a:ln/>
        </p:spPr>
        <p:txBody>
          <a:bodyPr wrap="square" lIns="25400" tIns="25400" rIns="25400" bIns="25400" rtlCol="0" anchor="t">
            <a:normAutofit/>
          </a:bodyPr>
          <a:lstStyle/>
          <a:p>
            <a:pPr algn="l" indent="0" marL="0">
              <a:lnSpc>
                <a:spcPct val="111538"/>
              </a:lnSpc>
              <a:buNone/>
            </a:pPr>
            <a:r>
              <a:rPr lang="en-US" sz="1875" dirty="0">
                <a:solidFill>
                  <a:srgbClr val="5B7178"/>
                </a:solidFill>
                <a:latin typeface="IBM Plex Sans" pitchFamily="34" charset="0"/>
                <a:ea typeface="IBM Plex Sans" pitchFamily="34" charset="-122"/>
                <a:cs typeface="IBM Plex Sans" pitchFamily="34" charset="-120"/>
              </a:rPr>
              <a:t>Outside that context it searches Jira directly, and says when it has no data rather than guessing.</a:t>
            </a:r>
            <a:endParaRPr lang="en-US" sz="18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0C93D9">
                  <a:alpha val="100000"/>
                </a:srgbClr>
              </a:gs>
              <a:gs pos="55000">
                <a:srgbClr val="076EA4">
                  <a:alpha val="100000"/>
                </a:srgbClr>
              </a:gs>
              <a:gs pos="100000">
                <a:srgbClr val="0F3133">
                  <a:alpha val="100000"/>
                </a:srgbClr>
              </a:gs>
            </a:gsLst>
            <a:lin ang="2700000" scaled="0"/>
          </a:gradFill>
          <a:ln/>
        </p:spPr>
      </p:sp>
      <p:sp>
        <p:nvSpPr>
          <p:cNvPr id="3" name="Text 1"/>
          <p:cNvSpPr/>
          <p:nvPr/>
        </p:nvSpPr>
        <p:spPr>
          <a:xfrm>
            <a:off x="952500" y="952500"/>
            <a:ext cx="18021300" cy="828675"/>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FFFFFF"/>
                </a:solidFill>
                <a:latin typeface="IBM Plex Sans" pitchFamily="34" charset="0"/>
                <a:ea typeface="IBM Plex Sans" pitchFamily="34" charset="-122"/>
                <a:cs typeface="IBM Plex Sans" pitchFamily="34" charset="-120"/>
              </a:rPr>
              <a:t>Where the Time Goes</a:t>
            </a:r>
            <a:endParaRPr lang="en-US" sz="4800" dirty="0"/>
          </a:p>
        </p:txBody>
      </p:sp>
      <p:sp>
        <p:nvSpPr>
          <p:cNvPr id="4" name="Text 2"/>
          <p:cNvSpPr/>
          <p:nvPr/>
        </p:nvSpPr>
        <p:spPr>
          <a:xfrm>
            <a:off x="952500" y="1933575"/>
            <a:ext cx="14668500" cy="491430"/>
          </a:xfrm>
          <a:prstGeom prst="rect">
            <a:avLst/>
          </a:prstGeom>
          <a:noFill/>
          <a:ln/>
        </p:spPr>
        <p:txBody>
          <a:bodyPr wrap="square" lIns="25400" tIns="25400" rIns="25400" bIns="25400" rtlCol="0" anchor="t">
            <a:normAutofit/>
          </a:bodyPr>
          <a:lstStyle/>
          <a:p>
            <a:pPr algn="l" indent="0" marL="0">
              <a:lnSpc>
                <a:spcPct val="106966"/>
              </a:lnSpc>
              <a:buNone/>
            </a:pPr>
            <a:r>
              <a:rPr lang="en-US" sz="2550" dirty="0">
                <a:solidFill>
                  <a:srgbClr val="FFFFFF">
                    <a:alpha val="82000"/>
                  </a:srgbClr>
                </a:solidFill>
                <a:latin typeface="IBM Plex Sans" pitchFamily="34" charset="0"/>
                <a:ea typeface="IBM Plex Sans" pitchFamily="34" charset="-122"/>
                <a:cs typeface="IBM Plex Sans" pitchFamily="34" charset="-120"/>
              </a:rPr>
              <a:t>The same four jobs, with the moving between tools taken out.</a:t>
            </a:r>
            <a:endParaRPr lang="en-US" sz="2550" dirty="0"/>
          </a:p>
        </p:txBody>
      </p:sp>
      <p:sp>
        <p:nvSpPr>
          <p:cNvPr id="5" name="Text 3"/>
          <p:cNvSpPr/>
          <p:nvPr/>
        </p:nvSpPr>
        <p:spPr>
          <a:xfrm>
            <a:off x="952500" y="2882205"/>
            <a:ext cx="5164823" cy="358080"/>
          </a:xfrm>
          <a:prstGeom prst="rect">
            <a:avLst/>
          </a:prstGeom>
          <a:noFill/>
          <a:ln/>
        </p:spPr>
        <p:txBody>
          <a:bodyPr wrap="square" lIns="25400" tIns="25400" rIns="25400" bIns="25400" rtlCol="0" anchor="t">
            <a:normAutofit/>
          </a:bodyPr>
          <a:lstStyle/>
          <a:p>
            <a:pPr algn="l" indent="0" marL="0">
              <a:lnSpc>
                <a:spcPct val="108387"/>
              </a:lnSpc>
              <a:buNone/>
            </a:pPr>
            <a:r>
              <a:rPr lang="en-US" sz="1800" b="1" spc="216" kern="0" dirty="0">
                <a:solidFill>
                  <a:srgbClr val="FFFFFF">
                    <a:alpha val="60000"/>
                  </a:srgbClr>
                </a:solidFill>
                <a:latin typeface="IBM Plex Sans" pitchFamily="34" charset="0"/>
                <a:ea typeface="IBM Plex Sans" pitchFamily="34" charset="-122"/>
                <a:cs typeface="IBM Plex Sans" pitchFamily="34" charset="-120"/>
              </a:rPr>
              <a:t>JOB</a:t>
            </a:r>
            <a:endParaRPr lang="en-US" sz="1800" dirty="0"/>
          </a:p>
        </p:txBody>
      </p:sp>
      <p:sp>
        <p:nvSpPr>
          <p:cNvPr id="6" name="Text 4"/>
          <p:cNvSpPr/>
          <p:nvPr/>
        </p:nvSpPr>
        <p:spPr>
          <a:xfrm>
            <a:off x="6385992" y="2882205"/>
            <a:ext cx="5423122" cy="358080"/>
          </a:xfrm>
          <a:prstGeom prst="rect">
            <a:avLst/>
          </a:prstGeom>
          <a:noFill/>
          <a:ln/>
        </p:spPr>
        <p:txBody>
          <a:bodyPr wrap="square" lIns="25400" tIns="25400" rIns="25400" bIns="25400" rtlCol="0" anchor="t">
            <a:normAutofit/>
          </a:bodyPr>
          <a:lstStyle/>
          <a:p>
            <a:pPr algn="l" indent="0" marL="0">
              <a:lnSpc>
                <a:spcPct val="108387"/>
              </a:lnSpc>
              <a:buNone/>
            </a:pPr>
            <a:r>
              <a:rPr lang="en-US" sz="1800" b="1" spc="216" kern="0" dirty="0">
                <a:solidFill>
                  <a:srgbClr val="FFFFFF">
                    <a:alpha val="60000"/>
                  </a:srgbClr>
                </a:solidFill>
                <a:latin typeface="IBM Plex Sans" pitchFamily="34" charset="0"/>
                <a:ea typeface="IBM Plex Sans" pitchFamily="34" charset="-122"/>
                <a:cs typeface="IBM Plex Sans" pitchFamily="34" charset="-120"/>
              </a:rPr>
              <a:t>BEFORE</a:t>
            </a:r>
            <a:endParaRPr lang="en-US" sz="1800" dirty="0"/>
          </a:p>
        </p:txBody>
      </p:sp>
      <p:sp>
        <p:nvSpPr>
          <p:cNvPr id="7" name="Text 5"/>
          <p:cNvSpPr/>
          <p:nvPr/>
        </p:nvSpPr>
        <p:spPr>
          <a:xfrm>
            <a:off x="12070259" y="2882205"/>
            <a:ext cx="5423122" cy="358080"/>
          </a:xfrm>
          <a:prstGeom prst="rect">
            <a:avLst/>
          </a:prstGeom>
          <a:noFill/>
          <a:ln/>
        </p:spPr>
        <p:txBody>
          <a:bodyPr wrap="square" lIns="25400" tIns="25400" rIns="25400" bIns="25400" rtlCol="0" anchor="t">
            <a:normAutofit/>
          </a:bodyPr>
          <a:lstStyle/>
          <a:p>
            <a:pPr algn="l" indent="0" marL="0">
              <a:lnSpc>
                <a:spcPct val="108387"/>
              </a:lnSpc>
              <a:buNone/>
            </a:pPr>
            <a:r>
              <a:rPr lang="en-US" sz="1800" b="1" spc="216" kern="0" dirty="0">
                <a:solidFill>
                  <a:srgbClr val="FDD219"/>
                </a:solidFill>
                <a:latin typeface="IBM Plex Sans" pitchFamily="34" charset="0"/>
                <a:ea typeface="IBM Plex Sans" pitchFamily="34" charset="-122"/>
                <a:cs typeface="IBM Plex Sans" pitchFamily="34" charset="-120"/>
              </a:rPr>
              <a:t>IN TASK MANAGER</a:t>
            </a:r>
            <a:endParaRPr lang="en-US" sz="1800" dirty="0"/>
          </a:p>
        </p:txBody>
      </p:sp>
      <p:sp>
        <p:nvSpPr>
          <p:cNvPr id="8" name="Shape 6"/>
          <p:cNvSpPr/>
          <p:nvPr/>
        </p:nvSpPr>
        <p:spPr>
          <a:xfrm>
            <a:off x="952500" y="3571726"/>
            <a:ext cx="5014392" cy="9525"/>
          </a:xfrm>
          <a:prstGeom prst="rect">
            <a:avLst/>
          </a:prstGeom>
          <a:solidFill>
            <a:srgbClr val="FFFFFF">
              <a:alpha val="22000"/>
            </a:srgbClr>
          </a:solidFill>
          <a:ln/>
        </p:spPr>
      </p:sp>
      <p:sp>
        <p:nvSpPr>
          <p:cNvPr id="9" name="Text 7"/>
          <p:cNvSpPr/>
          <p:nvPr/>
        </p:nvSpPr>
        <p:spPr>
          <a:xfrm>
            <a:off x="952500" y="3828901"/>
            <a:ext cx="5164823" cy="438150"/>
          </a:xfrm>
          <a:prstGeom prst="rect">
            <a:avLst/>
          </a:prstGeom>
          <a:noFill/>
          <a:ln/>
        </p:spPr>
        <p:txBody>
          <a:bodyPr wrap="square" lIns="25400" tIns="25400" rIns="25400" bIns="25400" rtlCol="0" anchor="t">
            <a:normAutofit/>
          </a:bodyPr>
          <a:lstStyle/>
          <a:p>
            <a:pPr algn="l" indent="0" marL="0">
              <a:lnSpc>
                <a:spcPct val="109091"/>
              </a:lnSpc>
              <a:buNone/>
            </a:pPr>
            <a:r>
              <a:rPr lang="en-US" sz="2250" b="1" dirty="0">
                <a:solidFill>
                  <a:srgbClr val="FFFFFF"/>
                </a:solidFill>
                <a:latin typeface="IBM Plex Sans" pitchFamily="34" charset="0"/>
                <a:ea typeface="IBM Plex Sans" pitchFamily="34" charset="-122"/>
                <a:cs typeface="IBM Plex Sans" pitchFamily="34" charset="-120"/>
              </a:rPr>
              <a:t>See my open work</a:t>
            </a:r>
            <a:endParaRPr lang="en-US" sz="2250" dirty="0"/>
          </a:p>
        </p:txBody>
      </p:sp>
      <p:sp>
        <p:nvSpPr>
          <p:cNvPr id="10" name="Shape 8"/>
          <p:cNvSpPr/>
          <p:nvPr/>
        </p:nvSpPr>
        <p:spPr>
          <a:xfrm>
            <a:off x="6385992" y="3591744"/>
            <a:ext cx="5265167" cy="9525"/>
          </a:xfrm>
          <a:prstGeom prst="rect">
            <a:avLst/>
          </a:prstGeom>
          <a:solidFill>
            <a:srgbClr val="FFFFFF">
              <a:alpha val="22000"/>
            </a:srgbClr>
          </a:solidFill>
          <a:ln/>
        </p:spPr>
      </p:sp>
      <p:sp>
        <p:nvSpPr>
          <p:cNvPr id="11" name="Text 9"/>
          <p:cNvSpPr/>
          <p:nvPr/>
        </p:nvSpPr>
        <p:spPr>
          <a:xfrm>
            <a:off x="6385992" y="3848919"/>
            <a:ext cx="5423122" cy="398115"/>
          </a:xfrm>
          <a:prstGeom prst="rect">
            <a:avLst/>
          </a:prstGeom>
          <a:noFill/>
          <a:ln/>
        </p:spPr>
        <p:txBody>
          <a:bodyPr wrap="square" lIns="25400" tIns="25400" rIns="25400" bIns="25400" rtlCol="0" anchor="t">
            <a:normAutofit/>
          </a:bodyPr>
          <a:lstStyle/>
          <a:p>
            <a:pPr algn="l" indent="0" marL="0">
              <a:lnSpc>
                <a:spcPct val="108000"/>
              </a:lnSpc>
              <a:buNone/>
            </a:pPr>
            <a:r>
              <a:rPr lang="en-US" sz="2025" dirty="0">
                <a:solidFill>
                  <a:srgbClr val="FFFFFF">
                    <a:alpha val="78000"/>
                  </a:srgbClr>
                </a:solidFill>
                <a:latin typeface="IBM Plex Sans" pitchFamily="34" charset="0"/>
                <a:ea typeface="IBM Plex Sans" pitchFamily="34" charset="-122"/>
                <a:cs typeface="IBM Plex Sans" pitchFamily="34" charset="-120"/>
              </a:rPr>
              <a:t>Several Jira filters, opened one at a time</a:t>
            </a:r>
            <a:endParaRPr lang="en-US" sz="2025" dirty="0"/>
          </a:p>
        </p:txBody>
      </p:sp>
      <p:sp>
        <p:nvSpPr>
          <p:cNvPr id="12" name="Shape 10"/>
          <p:cNvSpPr/>
          <p:nvPr/>
        </p:nvSpPr>
        <p:spPr>
          <a:xfrm>
            <a:off x="12070259" y="3411736"/>
            <a:ext cx="5265167" cy="9525"/>
          </a:xfrm>
          <a:prstGeom prst="rect">
            <a:avLst/>
          </a:prstGeom>
          <a:solidFill>
            <a:srgbClr val="FFFFFF">
              <a:alpha val="22000"/>
            </a:srgbClr>
          </a:solidFill>
          <a:ln/>
        </p:spPr>
      </p:sp>
      <p:sp>
        <p:nvSpPr>
          <p:cNvPr id="13" name="Text 11"/>
          <p:cNvSpPr/>
          <p:nvPr/>
        </p:nvSpPr>
        <p:spPr>
          <a:xfrm>
            <a:off x="12070259" y="3668911"/>
            <a:ext cx="5423122" cy="758130"/>
          </a:xfrm>
          <a:prstGeom prst="rect">
            <a:avLst/>
          </a:prstGeom>
          <a:noFill/>
          <a:ln/>
        </p:spPr>
        <p:txBody>
          <a:bodyPr wrap="square" lIns="25400" tIns="25400" rIns="25400" bIns="25400" rtlCol="0" anchor="t">
            <a:normAutofit/>
          </a:bodyPr>
          <a:lstStyle/>
          <a:p>
            <a:pPr algn="l" indent="0" marL="0">
              <a:lnSpc>
                <a:spcPct val="108000"/>
              </a:lnSpc>
              <a:buNone/>
            </a:pPr>
            <a:r>
              <a:rPr lang="en-US" sz="2025" dirty="0">
                <a:solidFill>
                  <a:srgbClr val="FFFFFF"/>
                </a:solidFill>
                <a:latin typeface="IBM Plex Sans" pitchFamily="34" charset="0"/>
                <a:ea typeface="IBM Plex Sans" pitchFamily="34" charset="-122"/>
                <a:cs typeface="IBM Plex Sans" pitchFamily="34" charset="-120"/>
              </a:rPr>
              <a:t>Five saved queries in one table, one keystroke</a:t>
            </a:r>
            <a:endParaRPr lang="en-US" sz="2025" dirty="0"/>
          </a:p>
        </p:txBody>
      </p:sp>
      <p:sp>
        <p:nvSpPr>
          <p:cNvPr id="14" name="Shape 12"/>
          <p:cNvSpPr/>
          <p:nvPr/>
        </p:nvSpPr>
        <p:spPr>
          <a:xfrm>
            <a:off x="952500" y="4636591"/>
            <a:ext cx="5014392" cy="9525"/>
          </a:xfrm>
          <a:prstGeom prst="rect">
            <a:avLst/>
          </a:prstGeom>
          <a:solidFill>
            <a:srgbClr val="FFFFFF">
              <a:alpha val="22000"/>
            </a:srgbClr>
          </a:solidFill>
          <a:ln/>
        </p:spPr>
      </p:sp>
      <p:sp>
        <p:nvSpPr>
          <p:cNvPr id="15" name="Text 13"/>
          <p:cNvSpPr/>
          <p:nvPr/>
        </p:nvSpPr>
        <p:spPr>
          <a:xfrm>
            <a:off x="952500" y="4893766"/>
            <a:ext cx="5164823" cy="438150"/>
          </a:xfrm>
          <a:prstGeom prst="rect">
            <a:avLst/>
          </a:prstGeom>
          <a:noFill/>
          <a:ln/>
        </p:spPr>
        <p:txBody>
          <a:bodyPr wrap="square" lIns="25400" tIns="25400" rIns="25400" bIns="25400" rtlCol="0" anchor="t">
            <a:normAutofit/>
          </a:bodyPr>
          <a:lstStyle/>
          <a:p>
            <a:pPr algn="l" indent="0" marL="0">
              <a:lnSpc>
                <a:spcPct val="109091"/>
              </a:lnSpc>
              <a:buNone/>
            </a:pPr>
            <a:r>
              <a:rPr lang="en-US" sz="2250" b="1" dirty="0">
                <a:solidFill>
                  <a:srgbClr val="FFFFFF"/>
                </a:solidFill>
                <a:latin typeface="IBM Plex Sans" pitchFamily="34" charset="0"/>
                <a:ea typeface="IBM Plex Sans" pitchFamily="34" charset="-122"/>
                <a:cs typeface="IBM Plex Sans" pitchFamily="34" charset="-120"/>
              </a:rPr>
              <a:t>Rank the work</a:t>
            </a:r>
            <a:endParaRPr lang="en-US" sz="2250" dirty="0"/>
          </a:p>
        </p:txBody>
      </p:sp>
      <p:sp>
        <p:nvSpPr>
          <p:cNvPr id="16" name="Shape 14"/>
          <p:cNvSpPr/>
          <p:nvPr/>
        </p:nvSpPr>
        <p:spPr>
          <a:xfrm>
            <a:off x="6385992" y="4656609"/>
            <a:ext cx="5265167" cy="9525"/>
          </a:xfrm>
          <a:prstGeom prst="rect">
            <a:avLst/>
          </a:prstGeom>
          <a:solidFill>
            <a:srgbClr val="FFFFFF">
              <a:alpha val="22000"/>
            </a:srgbClr>
          </a:solidFill>
          <a:ln/>
        </p:spPr>
      </p:sp>
      <p:sp>
        <p:nvSpPr>
          <p:cNvPr id="17" name="Text 15"/>
          <p:cNvSpPr/>
          <p:nvPr/>
        </p:nvSpPr>
        <p:spPr>
          <a:xfrm>
            <a:off x="6385992" y="4913784"/>
            <a:ext cx="5423122" cy="398115"/>
          </a:xfrm>
          <a:prstGeom prst="rect">
            <a:avLst/>
          </a:prstGeom>
          <a:noFill/>
          <a:ln/>
        </p:spPr>
        <p:txBody>
          <a:bodyPr wrap="square" lIns="25400" tIns="25400" rIns="25400" bIns="25400" rtlCol="0" anchor="t">
            <a:normAutofit/>
          </a:bodyPr>
          <a:lstStyle/>
          <a:p>
            <a:pPr algn="l" indent="0" marL="0">
              <a:lnSpc>
                <a:spcPct val="108000"/>
              </a:lnSpc>
              <a:buNone/>
            </a:pPr>
            <a:r>
              <a:rPr lang="en-US" sz="2025" dirty="0">
                <a:solidFill>
                  <a:srgbClr val="FFFFFF">
                    <a:alpha val="78000"/>
                  </a:srgbClr>
                </a:solidFill>
                <a:latin typeface="IBM Plex Sans" pitchFamily="34" charset="0"/>
                <a:ea typeface="IBM Plex Sans" pitchFamily="34" charset="-122"/>
                <a:cs typeface="IBM Plex Sans" pitchFamily="34" charset="-120"/>
              </a:rPr>
              <a:t>Shared spreadsheet, kept in sync by hand</a:t>
            </a:r>
            <a:endParaRPr lang="en-US" sz="2025" dirty="0"/>
          </a:p>
        </p:txBody>
      </p:sp>
      <p:sp>
        <p:nvSpPr>
          <p:cNvPr id="18" name="Shape 16"/>
          <p:cNvSpPr/>
          <p:nvPr/>
        </p:nvSpPr>
        <p:spPr>
          <a:xfrm>
            <a:off x="12070259" y="4656609"/>
            <a:ext cx="5265167" cy="9525"/>
          </a:xfrm>
          <a:prstGeom prst="rect">
            <a:avLst/>
          </a:prstGeom>
          <a:solidFill>
            <a:srgbClr val="FFFFFF">
              <a:alpha val="22000"/>
            </a:srgbClr>
          </a:solidFill>
          <a:ln/>
        </p:spPr>
      </p:sp>
      <p:sp>
        <p:nvSpPr>
          <p:cNvPr id="19" name="Text 17"/>
          <p:cNvSpPr/>
          <p:nvPr/>
        </p:nvSpPr>
        <p:spPr>
          <a:xfrm>
            <a:off x="12070259" y="4913784"/>
            <a:ext cx="5423122" cy="398115"/>
          </a:xfrm>
          <a:prstGeom prst="rect">
            <a:avLst/>
          </a:prstGeom>
          <a:noFill/>
          <a:ln/>
        </p:spPr>
        <p:txBody>
          <a:bodyPr wrap="square" lIns="25400" tIns="25400" rIns="25400" bIns="25400" rtlCol="0" anchor="t">
            <a:normAutofit/>
          </a:bodyPr>
          <a:lstStyle/>
          <a:p>
            <a:pPr algn="l" indent="0" marL="0">
              <a:lnSpc>
                <a:spcPct val="108000"/>
              </a:lnSpc>
              <a:buNone/>
            </a:pPr>
            <a:r>
              <a:rPr lang="en-US" sz="2025" dirty="0">
                <a:solidFill>
                  <a:srgbClr val="FFFFFF"/>
                </a:solidFill>
                <a:latin typeface="IBM Plex Sans" pitchFamily="34" charset="0"/>
                <a:ea typeface="IBM Plex Sans" pitchFamily="34" charset="-122"/>
                <a:cs typeface="IBM Plex Sans" pitchFamily="34" charset="-120"/>
              </a:rPr>
              <a:t>P1–P20 on the row, shared across the team</a:t>
            </a:r>
            <a:endParaRPr lang="en-US" sz="2025" dirty="0"/>
          </a:p>
        </p:txBody>
      </p:sp>
      <p:sp>
        <p:nvSpPr>
          <p:cNvPr id="20" name="Shape 18"/>
          <p:cNvSpPr/>
          <p:nvPr/>
        </p:nvSpPr>
        <p:spPr>
          <a:xfrm>
            <a:off x="952500" y="5701457"/>
            <a:ext cx="5014392" cy="9525"/>
          </a:xfrm>
          <a:prstGeom prst="rect">
            <a:avLst/>
          </a:prstGeom>
          <a:solidFill>
            <a:srgbClr val="FFFFFF">
              <a:alpha val="22000"/>
            </a:srgbClr>
          </a:solidFill>
          <a:ln/>
        </p:spPr>
      </p:sp>
      <p:sp>
        <p:nvSpPr>
          <p:cNvPr id="21" name="Text 19"/>
          <p:cNvSpPr/>
          <p:nvPr/>
        </p:nvSpPr>
        <p:spPr>
          <a:xfrm>
            <a:off x="952500" y="5958632"/>
            <a:ext cx="5164823" cy="438150"/>
          </a:xfrm>
          <a:prstGeom prst="rect">
            <a:avLst/>
          </a:prstGeom>
          <a:noFill/>
          <a:ln/>
        </p:spPr>
        <p:txBody>
          <a:bodyPr wrap="square" lIns="25400" tIns="25400" rIns="25400" bIns="25400" rtlCol="0" anchor="t">
            <a:normAutofit/>
          </a:bodyPr>
          <a:lstStyle/>
          <a:p>
            <a:pPr algn="l" indent="0" marL="0">
              <a:lnSpc>
                <a:spcPct val="109091"/>
              </a:lnSpc>
              <a:buNone/>
            </a:pPr>
            <a:r>
              <a:rPr lang="en-US" sz="2250" b="1" dirty="0">
                <a:solidFill>
                  <a:srgbClr val="FFFFFF"/>
                </a:solidFill>
                <a:latin typeface="IBM Plex Sans" pitchFamily="34" charset="0"/>
                <a:ea typeface="IBM Plex Sans" pitchFamily="34" charset="-122"/>
                <a:cs typeface="IBM Plex Sans" pitchFamily="34" charset="-120"/>
              </a:rPr>
              <a:t>Keep the team updated</a:t>
            </a:r>
            <a:endParaRPr lang="en-US" sz="2250" dirty="0"/>
          </a:p>
        </p:txBody>
      </p:sp>
      <p:sp>
        <p:nvSpPr>
          <p:cNvPr id="22" name="Shape 20"/>
          <p:cNvSpPr/>
          <p:nvPr/>
        </p:nvSpPr>
        <p:spPr>
          <a:xfrm>
            <a:off x="6385992" y="5721474"/>
            <a:ext cx="5265167" cy="9525"/>
          </a:xfrm>
          <a:prstGeom prst="rect">
            <a:avLst/>
          </a:prstGeom>
          <a:solidFill>
            <a:srgbClr val="FFFFFF">
              <a:alpha val="22000"/>
            </a:srgbClr>
          </a:solidFill>
          <a:ln/>
        </p:spPr>
      </p:sp>
      <p:sp>
        <p:nvSpPr>
          <p:cNvPr id="23" name="Text 21"/>
          <p:cNvSpPr/>
          <p:nvPr/>
        </p:nvSpPr>
        <p:spPr>
          <a:xfrm>
            <a:off x="6385992" y="5978649"/>
            <a:ext cx="5423122" cy="398115"/>
          </a:xfrm>
          <a:prstGeom prst="rect">
            <a:avLst/>
          </a:prstGeom>
          <a:noFill/>
          <a:ln/>
        </p:spPr>
        <p:txBody>
          <a:bodyPr wrap="square" lIns="25400" tIns="25400" rIns="25400" bIns="25400" rtlCol="0" anchor="t">
            <a:normAutofit/>
          </a:bodyPr>
          <a:lstStyle/>
          <a:p>
            <a:pPr algn="l" indent="0" marL="0">
              <a:lnSpc>
                <a:spcPct val="108000"/>
              </a:lnSpc>
              <a:buNone/>
            </a:pPr>
            <a:r>
              <a:rPr lang="en-US" sz="2025" dirty="0">
                <a:solidFill>
                  <a:srgbClr val="FFFFFF">
                    <a:alpha val="78000"/>
                  </a:srgbClr>
                </a:solidFill>
                <a:latin typeface="IBM Plex Sans" pitchFamily="34" charset="0"/>
                <a:ea typeface="IBM Plex Sans" pitchFamily="34" charset="-122"/>
                <a:cs typeface="IBM Plex Sans" pitchFamily="34" charset="-120"/>
              </a:rPr>
              <a:t>Open each issue in Jira, retype the note</a:t>
            </a:r>
            <a:endParaRPr lang="en-US" sz="2025" dirty="0"/>
          </a:p>
        </p:txBody>
      </p:sp>
      <p:sp>
        <p:nvSpPr>
          <p:cNvPr id="24" name="Shape 22"/>
          <p:cNvSpPr/>
          <p:nvPr/>
        </p:nvSpPr>
        <p:spPr>
          <a:xfrm>
            <a:off x="12070259" y="5541466"/>
            <a:ext cx="5265167" cy="9525"/>
          </a:xfrm>
          <a:prstGeom prst="rect">
            <a:avLst/>
          </a:prstGeom>
          <a:solidFill>
            <a:srgbClr val="FFFFFF">
              <a:alpha val="22000"/>
            </a:srgbClr>
          </a:solidFill>
          <a:ln/>
        </p:spPr>
      </p:sp>
      <p:sp>
        <p:nvSpPr>
          <p:cNvPr id="25" name="Text 23"/>
          <p:cNvSpPr/>
          <p:nvPr/>
        </p:nvSpPr>
        <p:spPr>
          <a:xfrm>
            <a:off x="12070259" y="5798641"/>
            <a:ext cx="5423122" cy="758130"/>
          </a:xfrm>
          <a:prstGeom prst="rect">
            <a:avLst/>
          </a:prstGeom>
          <a:noFill/>
          <a:ln/>
        </p:spPr>
        <p:txBody>
          <a:bodyPr wrap="square" lIns="25400" tIns="25400" rIns="25400" bIns="25400" rtlCol="0" anchor="t">
            <a:normAutofit/>
          </a:bodyPr>
          <a:lstStyle/>
          <a:p>
            <a:pPr algn="l" indent="0" marL="0">
              <a:lnSpc>
                <a:spcPct val="108000"/>
              </a:lnSpc>
              <a:buNone/>
            </a:pPr>
            <a:r>
              <a:rPr lang="en-US" sz="2025" dirty="0">
                <a:solidFill>
                  <a:srgbClr val="FFFFFF"/>
                </a:solidFill>
                <a:latin typeface="IBM Plex Sans" pitchFamily="34" charset="0"/>
                <a:ea typeface="IBM Plex Sans" pitchFamily="34" charset="-122"/>
                <a:cs typeface="IBM Plex Sans" pitchFamily="34" charset="-120"/>
              </a:rPr>
              <a:t>Write in the row, push selected notes as comments</a:t>
            </a:r>
            <a:endParaRPr lang="en-US" sz="2025" dirty="0"/>
          </a:p>
        </p:txBody>
      </p:sp>
      <p:sp>
        <p:nvSpPr>
          <p:cNvPr id="26" name="Shape 24"/>
          <p:cNvSpPr/>
          <p:nvPr/>
        </p:nvSpPr>
        <p:spPr>
          <a:xfrm>
            <a:off x="952500" y="7831187"/>
            <a:ext cx="5014392" cy="9525"/>
          </a:xfrm>
          <a:prstGeom prst="rect">
            <a:avLst/>
          </a:prstGeom>
          <a:solidFill>
            <a:srgbClr val="FFFFFF">
              <a:alpha val="22000"/>
            </a:srgbClr>
          </a:solidFill>
          <a:ln/>
        </p:spPr>
      </p:sp>
      <p:sp>
        <p:nvSpPr>
          <p:cNvPr id="27" name="Shape 25"/>
          <p:cNvSpPr/>
          <p:nvPr/>
        </p:nvSpPr>
        <p:spPr>
          <a:xfrm>
            <a:off x="952500" y="6926312"/>
            <a:ext cx="5014392" cy="9525"/>
          </a:xfrm>
          <a:prstGeom prst="rect">
            <a:avLst/>
          </a:prstGeom>
          <a:solidFill>
            <a:srgbClr val="FFFFFF">
              <a:alpha val="22000"/>
            </a:srgbClr>
          </a:solidFill>
          <a:ln/>
        </p:spPr>
      </p:sp>
      <p:sp>
        <p:nvSpPr>
          <p:cNvPr id="28" name="Text 26"/>
          <p:cNvSpPr/>
          <p:nvPr/>
        </p:nvSpPr>
        <p:spPr>
          <a:xfrm>
            <a:off x="952500" y="7183487"/>
            <a:ext cx="5164823" cy="438150"/>
          </a:xfrm>
          <a:prstGeom prst="rect">
            <a:avLst/>
          </a:prstGeom>
          <a:noFill/>
          <a:ln/>
        </p:spPr>
        <p:txBody>
          <a:bodyPr wrap="square" lIns="25400" tIns="25400" rIns="25400" bIns="25400" rtlCol="0" anchor="t">
            <a:normAutofit/>
          </a:bodyPr>
          <a:lstStyle/>
          <a:p>
            <a:pPr algn="l" indent="0" marL="0">
              <a:lnSpc>
                <a:spcPct val="109091"/>
              </a:lnSpc>
              <a:buNone/>
            </a:pPr>
            <a:r>
              <a:rPr lang="en-US" sz="2250" b="1" dirty="0">
                <a:solidFill>
                  <a:srgbClr val="FFFFFF"/>
                </a:solidFill>
                <a:latin typeface="IBM Plex Sans" pitchFamily="34" charset="0"/>
                <a:ea typeface="IBM Plex Sans" pitchFamily="34" charset="-122"/>
                <a:cs typeface="IBM Plex Sans" pitchFamily="34" charset="-120"/>
              </a:rPr>
              <a:t>Write the status update</a:t>
            </a:r>
            <a:endParaRPr lang="en-US" sz="2250" dirty="0"/>
          </a:p>
        </p:txBody>
      </p:sp>
      <p:sp>
        <p:nvSpPr>
          <p:cNvPr id="29" name="Shape 27"/>
          <p:cNvSpPr/>
          <p:nvPr/>
        </p:nvSpPr>
        <p:spPr>
          <a:xfrm>
            <a:off x="6385992" y="7991177"/>
            <a:ext cx="5265167" cy="9525"/>
          </a:xfrm>
          <a:prstGeom prst="rect">
            <a:avLst/>
          </a:prstGeom>
          <a:solidFill>
            <a:srgbClr val="FFFFFF">
              <a:alpha val="22000"/>
            </a:srgbClr>
          </a:solidFill>
          <a:ln/>
        </p:spPr>
      </p:sp>
      <p:sp>
        <p:nvSpPr>
          <p:cNvPr id="30" name="Shape 28"/>
          <p:cNvSpPr/>
          <p:nvPr/>
        </p:nvSpPr>
        <p:spPr>
          <a:xfrm>
            <a:off x="6385992" y="6766322"/>
            <a:ext cx="5265167" cy="9525"/>
          </a:xfrm>
          <a:prstGeom prst="rect">
            <a:avLst/>
          </a:prstGeom>
          <a:solidFill>
            <a:srgbClr val="FFFFFF">
              <a:alpha val="22000"/>
            </a:srgbClr>
          </a:solidFill>
          <a:ln/>
        </p:spPr>
      </p:sp>
      <p:sp>
        <p:nvSpPr>
          <p:cNvPr id="31" name="Text 29"/>
          <p:cNvSpPr/>
          <p:nvPr/>
        </p:nvSpPr>
        <p:spPr>
          <a:xfrm>
            <a:off x="6385992" y="7023497"/>
            <a:ext cx="5423122" cy="758130"/>
          </a:xfrm>
          <a:prstGeom prst="rect">
            <a:avLst/>
          </a:prstGeom>
          <a:noFill/>
          <a:ln/>
        </p:spPr>
        <p:txBody>
          <a:bodyPr wrap="square" lIns="25400" tIns="25400" rIns="25400" bIns="25400" rtlCol="0" anchor="t">
            <a:normAutofit/>
          </a:bodyPr>
          <a:lstStyle/>
          <a:p>
            <a:pPr algn="l" indent="0" marL="0">
              <a:lnSpc>
                <a:spcPct val="108000"/>
              </a:lnSpc>
              <a:buNone/>
            </a:pPr>
            <a:r>
              <a:rPr lang="en-US" sz="2025" dirty="0">
                <a:solidFill>
                  <a:srgbClr val="FFFFFF">
                    <a:alpha val="78000"/>
                  </a:srgbClr>
                </a:solidFill>
                <a:latin typeface="IBM Plex Sans" pitchFamily="34" charset="0"/>
                <a:ea typeface="IBM Plex Sans" pitchFamily="34" charset="-122"/>
                <a:cs typeface="IBM Plex Sans" pitchFamily="34" charset="-120"/>
              </a:rPr>
              <a:t>Read everything again, then write from memory</a:t>
            </a:r>
            <a:endParaRPr lang="en-US" sz="2025" dirty="0"/>
          </a:p>
        </p:txBody>
      </p:sp>
      <p:sp>
        <p:nvSpPr>
          <p:cNvPr id="32" name="Shape 30"/>
          <p:cNvSpPr/>
          <p:nvPr/>
        </p:nvSpPr>
        <p:spPr>
          <a:xfrm>
            <a:off x="12070259" y="7811170"/>
            <a:ext cx="5265167" cy="9525"/>
          </a:xfrm>
          <a:prstGeom prst="rect">
            <a:avLst/>
          </a:prstGeom>
          <a:solidFill>
            <a:srgbClr val="FFFFFF">
              <a:alpha val="22000"/>
            </a:srgbClr>
          </a:solidFill>
          <a:ln/>
        </p:spPr>
      </p:sp>
      <p:sp>
        <p:nvSpPr>
          <p:cNvPr id="33" name="Shape 31"/>
          <p:cNvSpPr/>
          <p:nvPr/>
        </p:nvSpPr>
        <p:spPr>
          <a:xfrm>
            <a:off x="12070259" y="6946329"/>
            <a:ext cx="5265167" cy="9525"/>
          </a:xfrm>
          <a:prstGeom prst="rect">
            <a:avLst/>
          </a:prstGeom>
          <a:solidFill>
            <a:srgbClr val="FFFFFF">
              <a:alpha val="22000"/>
            </a:srgbClr>
          </a:solidFill>
          <a:ln/>
        </p:spPr>
      </p:sp>
      <p:sp>
        <p:nvSpPr>
          <p:cNvPr id="34" name="Text 32"/>
          <p:cNvSpPr/>
          <p:nvPr/>
        </p:nvSpPr>
        <p:spPr>
          <a:xfrm>
            <a:off x="12070259" y="7203504"/>
            <a:ext cx="5423122" cy="398115"/>
          </a:xfrm>
          <a:prstGeom prst="rect">
            <a:avLst/>
          </a:prstGeom>
          <a:noFill/>
          <a:ln/>
        </p:spPr>
        <p:txBody>
          <a:bodyPr wrap="square" lIns="25400" tIns="25400" rIns="25400" bIns="25400" rtlCol="0" anchor="t">
            <a:normAutofit/>
          </a:bodyPr>
          <a:lstStyle/>
          <a:p>
            <a:pPr algn="l" indent="0" marL="0">
              <a:lnSpc>
                <a:spcPct val="108000"/>
              </a:lnSpc>
              <a:buNone/>
            </a:pPr>
            <a:r>
              <a:rPr lang="en-US" sz="2025" dirty="0">
                <a:solidFill>
                  <a:srgbClr val="FFFFFF"/>
                </a:solidFill>
                <a:latin typeface="IBM Plex Sans" pitchFamily="34" charset="0"/>
                <a:ea typeface="IBM Plex Sans" pitchFamily="34" charset="-122"/>
                <a:cs typeface="IBM Plex Sans" pitchFamily="34" charset="-120"/>
              </a:rPr>
              <a:t>Generated from the work already loaded</a:t>
            </a:r>
            <a:endParaRPr lang="en-US" sz="20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952500"/>
            <a:ext cx="18021300" cy="828675"/>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0F3133"/>
                </a:solidFill>
                <a:latin typeface="IBM Plex Sans" pitchFamily="34" charset="0"/>
                <a:ea typeface="IBM Plex Sans" pitchFamily="34" charset="-122"/>
                <a:cs typeface="IBM Plex Sans" pitchFamily="34" charset="-120"/>
              </a:rPr>
              <a:t>Setup and Access</a:t>
            </a:r>
            <a:endParaRPr lang="en-US" sz="4800" dirty="0"/>
          </a:p>
        </p:txBody>
      </p:sp>
      <p:sp>
        <p:nvSpPr>
          <p:cNvPr id="3" name="Text 1"/>
          <p:cNvSpPr/>
          <p:nvPr/>
        </p:nvSpPr>
        <p:spPr>
          <a:xfrm>
            <a:off x="952500" y="1933575"/>
            <a:ext cx="14668500" cy="491430"/>
          </a:xfrm>
          <a:prstGeom prst="rect">
            <a:avLst/>
          </a:prstGeom>
          <a:noFill/>
          <a:ln/>
        </p:spPr>
        <p:txBody>
          <a:bodyPr wrap="square" lIns="25400" tIns="25400" rIns="25400" bIns="25400" rtlCol="0" anchor="t">
            <a:normAutofit/>
          </a:bodyPr>
          <a:lstStyle/>
          <a:p>
            <a:pPr algn="l" indent="0" marL="0">
              <a:lnSpc>
                <a:spcPct val="106966"/>
              </a:lnSpc>
              <a:buNone/>
            </a:pPr>
            <a:r>
              <a:rPr lang="en-US" sz="2550" dirty="0">
                <a:solidFill>
                  <a:srgbClr val="5B7178"/>
                </a:solidFill>
                <a:latin typeface="IBM Plex Sans" pitchFamily="34" charset="0"/>
                <a:ea typeface="IBM Plex Sans" pitchFamily="34" charset="-122"/>
                <a:cs typeface="IBM Plex Sans" pitchFamily="34" charset="-120"/>
              </a:rPr>
              <a:t>Runs on macOS and Windows, as a desktop app or as an installed browser window.</a:t>
            </a:r>
            <a:endParaRPr lang="en-US" sz="2550" dirty="0"/>
          </a:p>
        </p:txBody>
      </p:sp>
      <p:sp>
        <p:nvSpPr>
          <p:cNvPr id="4" name="Shape 2"/>
          <p:cNvSpPr/>
          <p:nvPr/>
        </p:nvSpPr>
        <p:spPr>
          <a:xfrm>
            <a:off x="952500" y="2882205"/>
            <a:ext cx="16383000" cy="1131540"/>
          </a:xfrm>
          <a:prstGeom prst="roundRect">
            <a:avLst>
              <a:gd name="adj" fmla="val 8418"/>
            </a:avLst>
          </a:prstGeom>
          <a:solidFill>
            <a:srgbClr val="F6F9FB"/>
          </a:solidFill>
          <a:ln w="9525">
            <a:solidFill>
              <a:srgbClr val="D9E3EA"/>
            </a:solidFill>
            <a:prstDash val="solid"/>
          </a:ln>
        </p:spPr>
      </p:sp>
      <p:sp>
        <p:nvSpPr>
          <p:cNvPr id="5" name="Text 3"/>
          <p:cNvSpPr/>
          <p:nvPr/>
        </p:nvSpPr>
        <p:spPr>
          <a:xfrm>
            <a:off x="1228725" y="3300338"/>
            <a:ext cx="698004" cy="333375"/>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76EA4"/>
                </a:solidFill>
                <a:latin typeface="IBM Plex Mono" pitchFamily="34" charset="0"/>
                <a:ea typeface="IBM Plex Mono" pitchFamily="34" charset="-122"/>
                <a:cs typeface="IBM Plex Mono" pitchFamily="34" charset="-120"/>
              </a:rPr>
              <a:t>NOTE</a:t>
            </a:r>
            <a:endParaRPr lang="en-US" sz="1800" dirty="0"/>
          </a:p>
        </p:txBody>
      </p:sp>
      <p:sp>
        <p:nvSpPr>
          <p:cNvPr id="6" name="Text 4"/>
          <p:cNvSpPr/>
          <p:nvPr/>
        </p:nvSpPr>
        <p:spPr>
          <a:xfrm>
            <a:off x="2021979" y="3101280"/>
            <a:ext cx="15488415" cy="731490"/>
          </a:xfrm>
          <a:prstGeom prst="rect">
            <a:avLst/>
          </a:prstGeom>
          <a:noFill/>
          <a:ln/>
        </p:spPr>
        <p:txBody>
          <a:bodyPr wrap="square" lIns="25400" tIns="25400" rIns="25400" bIns="25400" rtlCol="0" anchor="t">
            <a:normAutofit/>
          </a:bodyPr>
          <a:lstStyle/>
          <a:p>
            <a:pPr algn="l" indent="0" marL="0">
              <a:lnSpc>
                <a:spcPct val="108657"/>
              </a:lnSpc>
              <a:buNone/>
            </a:pPr>
            <a:r>
              <a:rPr lang="en-US" sz="1950" dirty="0">
                <a:solidFill>
                  <a:srgbClr val="0F3133"/>
                </a:solidFill>
                <a:latin typeface="IBM Plex Sans" pitchFamily="34" charset="0"/>
                <a:ea typeface="IBM Plex Sans" pitchFamily="34" charset="-122"/>
                <a:cs typeface="IBM Plex Sans" pitchFamily="34" charset="-120"/>
              </a:rPr>
              <a:t>Some corporate laptops block the Electron desktop app. No problem — install the web UI as its own standalone app window in Chrome or Edge, same six tabs.</a:t>
            </a:r>
            <a:endParaRPr lang="en-US" sz="1950" dirty="0"/>
          </a:p>
        </p:txBody>
      </p:sp>
      <p:sp>
        <p:nvSpPr>
          <p:cNvPr id="7" name="Shape 5"/>
          <p:cNvSpPr/>
          <p:nvPr/>
        </p:nvSpPr>
        <p:spPr>
          <a:xfrm>
            <a:off x="952500" y="4432846"/>
            <a:ext cx="16383000" cy="2681288"/>
          </a:xfrm>
          <a:prstGeom prst="rect">
            <a:avLst/>
          </a:prstGeom>
          <a:solidFill>
            <a:srgbClr val="D9E3EA"/>
          </a:solidFill>
          <a:ln w="9525">
            <a:solidFill>
              <a:srgbClr val="D9E3EA"/>
            </a:solidFill>
            <a:prstDash val="solid"/>
          </a:ln>
        </p:spPr>
      </p:sp>
      <p:sp>
        <p:nvSpPr>
          <p:cNvPr id="8" name="Shape 6"/>
          <p:cNvSpPr/>
          <p:nvPr/>
        </p:nvSpPr>
        <p:spPr>
          <a:xfrm>
            <a:off x="962025" y="4442371"/>
            <a:ext cx="4076700" cy="2662238"/>
          </a:xfrm>
          <a:prstGeom prst="rect">
            <a:avLst/>
          </a:prstGeom>
          <a:solidFill>
            <a:srgbClr val="FFFFFF"/>
          </a:solidFill>
          <a:ln/>
        </p:spPr>
      </p:sp>
      <p:sp>
        <p:nvSpPr>
          <p:cNvPr id="9" name="Text 7"/>
          <p:cNvSpPr/>
          <p:nvPr/>
        </p:nvSpPr>
        <p:spPr>
          <a:xfrm>
            <a:off x="1266825" y="4804321"/>
            <a:ext cx="38138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0C93D9"/>
                </a:solidFill>
                <a:latin typeface="IBM Plex Mono" pitchFamily="34" charset="0"/>
                <a:ea typeface="IBM Plex Mono" pitchFamily="34" charset="-122"/>
                <a:cs typeface="IBM Plex Mono" pitchFamily="34" charset="-120"/>
              </a:rPr>
              <a:t>01</a:t>
            </a:r>
            <a:endParaRPr lang="en-US" sz="1800" dirty="0"/>
          </a:p>
        </p:txBody>
      </p:sp>
      <p:sp>
        <p:nvSpPr>
          <p:cNvPr id="10" name="Text 8"/>
          <p:cNvSpPr/>
          <p:nvPr/>
        </p:nvSpPr>
        <p:spPr>
          <a:xfrm>
            <a:off x="1266825" y="5271046"/>
            <a:ext cx="3813810" cy="395288"/>
          </a:xfrm>
          <a:prstGeom prst="rect">
            <a:avLst/>
          </a:prstGeom>
          <a:noFill/>
          <a:ln/>
        </p:spPr>
        <p:txBody>
          <a:bodyPr wrap="square" lIns="25400" tIns="25400" rIns="25400" bIns="25400" rtlCol="0" anchor="t">
            <a:normAutofit/>
          </a:bodyPr>
          <a:lstStyle/>
          <a:p>
            <a:pPr algn="l" indent="0" marL="0">
              <a:buNone/>
            </a:pPr>
            <a:r>
              <a:rPr lang="en-US" sz="2175" b="1" dirty="0">
                <a:solidFill>
                  <a:srgbClr val="0F3133"/>
                </a:solidFill>
                <a:latin typeface="IBM Plex Sans" pitchFamily="34" charset="0"/>
                <a:ea typeface="IBM Plex Sans" pitchFamily="34" charset="-122"/>
                <a:cs typeface="IBM Plex Sans" pitchFamily="34" charset="-120"/>
              </a:rPr>
              <a:t>Install</a:t>
            </a:r>
            <a:endParaRPr lang="en-US" sz="2175" dirty="0"/>
          </a:p>
        </p:txBody>
      </p:sp>
      <p:sp>
        <p:nvSpPr>
          <p:cNvPr id="11" name="Text 9"/>
          <p:cNvSpPr/>
          <p:nvPr/>
        </p:nvSpPr>
        <p:spPr>
          <a:xfrm>
            <a:off x="1266825" y="5742533"/>
            <a:ext cx="3571113" cy="1038225"/>
          </a:xfrm>
          <a:prstGeom prst="rect">
            <a:avLst/>
          </a:prstGeom>
          <a:noFill/>
          <a:ln/>
        </p:spPr>
        <p:txBody>
          <a:bodyPr wrap="square" lIns="25400" tIns="25400" rIns="25400" bIns="25400" rtlCol="0" anchor="t">
            <a:normAutofit/>
          </a:bodyPr>
          <a:lstStyle/>
          <a:p>
            <a:pPr algn="l" indent="0" marL="0">
              <a:lnSpc>
                <a:spcPct val="107692"/>
              </a:lnSpc>
              <a:buNone/>
            </a:pPr>
            <a:r>
              <a:rPr lang="en-US" sz="1875" dirty="0">
                <a:solidFill>
                  <a:srgbClr val="5B7178"/>
                </a:solidFill>
                <a:latin typeface="IBM Plex Sans" pitchFamily="34" charset="0"/>
                <a:ea typeface="IBM Plex Sans" pitchFamily="34" charset="-122"/>
                <a:cs typeface="IBM Plex Sans" pitchFamily="34" charset="-120"/>
              </a:rPr>
              <a:t>Run the desktop app, or run the browser UI and install it as its own standalone window.</a:t>
            </a:r>
            <a:endParaRPr lang="en-US" sz="1875" dirty="0"/>
          </a:p>
        </p:txBody>
      </p:sp>
      <p:sp>
        <p:nvSpPr>
          <p:cNvPr id="12" name="Shape 10"/>
          <p:cNvSpPr/>
          <p:nvPr/>
        </p:nvSpPr>
        <p:spPr>
          <a:xfrm>
            <a:off x="5057775" y="4442371"/>
            <a:ext cx="4076700" cy="2662238"/>
          </a:xfrm>
          <a:prstGeom prst="rect">
            <a:avLst/>
          </a:prstGeom>
          <a:solidFill>
            <a:srgbClr val="FFFFFF"/>
          </a:solidFill>
          <a:ln/>
        </p:spPr>
      </p:sp>
      <p:sp>
        <p:nvSpPr>
          <p:cNvPr id="13" name="Text 11"/>
          <p:cNvSpPr/>
          <p:nvPr/>
        </p:nvSpPr>
        <p:spPr>
          <a:xfrm>
            <a:off x="5362575" y="4804321"/>
            <a:ext cx="38138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0C93D9"/>
                </a:solidFill>
                <a:latin typeface="IBM Plex Mono" pitchFamily="34" charset="0"/>
                <a:ea typeface="IBM Plex Mono" pitchFamily="34" charset="-122"/>
                <a:cs typeface="IBM Plex Mono" pitchFamily="34" charset="-120"/>
              </a:rPr>
              <a:t>02</a:t>
            </a:r>
            <a:endParaRPr lang="en-US" sz="1800" dirty="0"/>
          </a:p>
        </p:txBody>
      </p:sp>
      <p:sp>
        <p:nvSpPr>
          <p:cNvPr id="14" name="Text 12"/>
          <p:cNvSpPr/>
          <p:nvPr/>
        </p:nvSpPr>
        <p:spPr>
          <a:xfrm>
            <a:off x="5362575" y="5271046"/>
            <a:ext cx="3813810" cy="395288"/>
          </a:xfrm>
          <a:prstGeom prst="rect">
            <a:avLst/>
          </a:prstGeom>
          <a:noFill/>
          <a:ln/>
        </p:spPr>
        <p:txBody>
          <a:bodyPr wrap="square" lIns="25400" tIns="25400" rIns="25400" bIns="25400" rtlCol="0" anchor="t">
            <a:normAutofit/>
          </a:bodyPr>
          <a:lstStyle/>
          <a:p>
            <a:pPr algn="l" indent="0" marL="0">
              <a:buNone/>
            </a:pPr>
            <a:r>
              <a:rPr lang="en-US" sz="2175" b="1" dirty="0">
                <a:solidFill>
                  <a:srgbClr val="0F3133"/>
                </a:solidFill>
                <a:latin typeface="IBM Plex Sans" pitchFamily="34" charset="0"/>
                <a:ea typeface="IBM Plex Sans" pitchFamily="34" charset="-122"/>
                <a:cs typeface="IBM Plex Sans" pitchFamily="34" charset="-120"/>
              </a:rPr>
              <a:t>Add credentials</a:t>
            </a:r>
            <a:endParaRPr lang="en-US" sz="2175" dirty="0"/>
          </a:p>
        </p:txBody>
      </p:sp>
      <p:sp>
        <p:nvSpPr>
          <p:cNvPr id="15" name="Text 13"/>
          <p:cNvSpPr/>
          <p:nvPr/>
        </p:nvSpPr>
        <p:spPr>
          <a:xfrm>
            <a:off x="5362575" y="5742533"/>
            <a:ext cx="3571113" cy="704850"/>
          </a:xfrm>
          <a:prstGeom prst="rect">
            <a:avLst/>
          </a:prstGeom>
          <a:noFill/>
          <a:ln/>
        </p:spPr>
        <p:txBody>
          <a:bodyPr wrap="square" lIns="25400" tIns="25400" rIns="25400" bIns="25400" rtlCol="0" anchor="t">
            <a:normAutofit/>
          </a:bodyPr>
          <a:lstStyle/>
          <a:p>
            <a:pPr algn="l" indent="0" marL="0">
              <a:lnSpc>
                <a:spcPct val="107692"/>
              </a:lnSpc>
              <a:buNone/>
            </a:pPr>
            <a:r>
              <a:rPr lang="en-US" sz="1875" dirty="0">
                <a:solidFill>
                  <a:srgbClr val="5B7178"/>
                </a:solidFill>
                <a:latin typeface="IBM Plex Sans" pitchFamily="34" charset="0"/>
                <a:ea typeface="IBM Plex Sans" pitchFamily="34" charset="-122"/>
                <a:cs typeface="IBM Plex Sans" pitchFamily="34" charset="-120"/>
              </a:rPr>
              <a:t>Jira base URL, email, and API token in the local .env file.</a:t>
            </a:r>
            <a:endParaRPr lang="en-US" sz="1875" dirty="0"/>
          </a:p>
        </p:txBody>
      </p:sp>
      <p:sp>
        <p:nvSpPr>
          <p:cNvPr id="16" name="Shape 14"/>
          <p:cNvSpPr/>
          <p:nvPr/>
        </p:nvSpPr>
        <p:spPr>
          <a:xfrm>
            <a:off x="9153525" y="4442371"/>
            <a:ext cx="4076700" cy="2662238"/>
          </a:xfrm>
          <a:prstGeom prst="rect">
            <a:avLst/>
          </a:prstGeom>
          <a:solidFill>
            <a:srgbClr val="FFFFFF"/>
          </a:solidFill>
          <a:ln/>
        </p:spPr>
      </p:sp>
      <p:sp>
        <p:nvSpPr>
          <p:cNvPr id="17" name="Text 15"/>
          <p:cNvSpPr/>
          <p:nvPr/>
        </p:nvSpPr>
        <p:spPr>
          <a:xfrm>
            <a:off x="9458325" y="4804321"/>
            <a:ext cx="38138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0C93D9"/>
                </a:solidFill>
                <a:latin typeface="IBM Plex Mono" pitchFamily="34" charset="0"/>
                <a:ea typeface="IBM Plex Mono" pitchFamily="34" charset="-122"/>
                <a:cs typeface="IBM Plex Mono" pitchFamily="34" charset="-120"/>
              </a:rPr>
              <a:t>03</a:t>
            </a:r>
            <a:endParaRPr lang="en-US" sz="1800" dirty="0"/>
          </a:p>
        </p:txBody>
      </p:sp>
      <p:sp>
        <p:nvSpPr>
          <p:cNvPr id="18" name="Text 16"/>
          <p:cNvSpPr/>
          <p:nvPr/>
        </p:nvSpPr>
        <p:spPr>
          <a:xfrm>
            <a:off x="9458325" y="5271046"/>
            <a:ext cx="3813810" cy="395288"/>
          </a:xfrm>
          <a:prstGeom prst="rect">
            <a:avLst/>
          </a:prstGeom>
          <a:noFill/>
          <a:ln/>
        </p:spPr>
        <p:txBody>
          <a:bodyPr wrap="square" lIns="25400" tIns="25400" rIns="25400" bIns="25400" rtlCol="0" anchor="t">
            <a:normAutofit/>
          </a:bodyPr>
          <a:lstStyle/>
          <a:p>
            <a:pPr algn="l" indent="0" marL="0">
              <a:buNone/>
            </a:pPr>
            <a:r>
              <a:rPr lang="en-US" sz="2175" b="1" dirty="0">
                <a:solidFill>
                  <a:srgbClr val="0F3133"/>
                </a:solidFill>
                <a:latin typeface="IBM Plex Sans" pitchFamily="34" charset="0"/>
                <a:ea typeface="IBM Plex Sans" pitchFamily="34" charset="-122"/>
                <a:cs typeface="IBM Plex Sans" pitchFamily="34" charset="-120"/>
              </a:rPr>
              <a:t>Test connection</a:t>
            </a:r>
            <a:endParaRPr lang="en-US" sz="2175" dirty="0"/>
          </a:p>
        </p:txBody>
      </p:sp>
      <p:sp>
        <p:nvSpPr>
          <p:cNvPr id="19" name="Text 17"/>
          <p:cNvSpPr/>
          <p:nvPr/>
        </p:nvSpPr>
        <p:spPr>
          <a:xfrm>
            <a:off x="9458325" y="5742533"/>
            <a:ext cx="3571113" cy="1038225"/>
          </a:xfrm>
          <a:prstGeom prst="rect">
            <a:avLst/>
          </a:prstGeom>
          <a:noFill/>
          <a:ln/>
        </p:spPr>
        <p:txBody>
          <a:bodyPr wrap="square" lIns="25400" tIns="25400" rIns="25400" bIns="25400" rtlCol="0" anchor="t">
            <a:normAutofit/>
          </a:bodyPr>
          <a:lstStyle/>
          <a:p>
            <a:pPr algn="l" indent="0" marL="0">
              <a:lnSpc>
                <a:spcPct val="107692"/>
              </a:lnSpc>
              <a:buNone/>
            </a:pPr>
            <a:r>
              <a:rPr lang="en-US" sz="1875" dirty="0">
                <a:solidFill>
                  <a:srgbClr val="5B7178"/>
                </a:solidFill>
                <a:latin typeface="IBM Plex Sans" pitchFamily="34" charset="0"/>
                <a:ea typeface="IBM Plex Sans" pitchFamily="34" charset="-122"/>
                <a:cs typeface="IBM Plex Sans" pitchFamily="34" charset="-120"/>
              </a:rPr>
              <a:t>Settings → Test Jira Connection. A check mark means everything else works.</a:t>
            </a:r>
            <a:endParaRPr lang="en-US" sz="1875" dirty="0"/>
          </a:p>
        </p:txBody>
      </p:sp>
      <p:sp>
        <p:nvSpPr>
          <p:cNvPr id="20" name="Shape 18"/>
          <p:cNvSpPr/>
          <p:nvPr/>
        </p:nvSpPr>
        <p:spPr>
          <a:xfrm>
            <a:off x="13249275" y="4442371"/>
            <a:ext cx="4076700" cy="2662238"/>
          </a:xfrm>
          <a:prstGeom prst="rect">
            <a:avLst/>
          </a:prstGeom>
          <a:solidFill>
            <a:srgbClr val="FFFFFF"/>
          </a:solidFill>
          <a:ln/>
        </p:spPr>
      </p:sp>
      <p:sp>
        <p:nvSpPr>
          <p:cNvPr id="21" name="Text 19"/>
          <p:cNvSpPr/>
          <p:nvPr/>
        </p:nvSpPr>
        <p:spPr>
          <a:xfrm>
            <a:off x="13554075" y="4804321"/>
            <a:ext cx="38138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0C93D9"/>
                </a:solidFill>
                <a:latin typeface="IBM Plex Mono" pitchFamily="34" charset="0"/>
                <a:ea typeface="IBM Plex Mono" pitchFamily="34" charset="-122"/>
                <a:cs typeface="IBM Plex Mono" pitchFamily="34" charset="-120"/>
              </a:rPr>
              <a:t>04</a:t>
            </a:r>
            <a:endParaRPr lang="en-US" sz="1800" dirty="0"/>
          </a:p>
        </p:txBody>
      </p:sp>
      <p:sp>
        <p:nvSpPr>
          <p:cNvPr id="22" name="Text 20"/>
          <p:cNvSpPr/>
          <p:nvPr/>
        </p:nvSpPr>
        <p:spPr>
          <a:xfrm>
            <a:off x="13554075" y="5271046"/>
            <a:ext cx="3813810" cy="395288"/>
          </a:xfrm>
          <a:prstGeom prst="rect">
            <a:avLst/>
          </a:prstGeom>
          <a:noFill/>
          <a:ln/>
        </p:spPr>
        <p:txBody>
          <a:bodyPr wrap="square" lIns="25400" tIns="25400" rIns="25400" bIns="25400" rtlCol="0" anchor="t">
            <a:normAutofit/>
          </a:bodyPr>
          <a:lstStyle/>
          <a:p>
            <a:pPr algn="l" indent="0" marL="0">
              <a:buNone/>
            </a:pPr>
            <a:r>
              <a:rPr lang="en-US" sz="2175" b="1" dirty="0">
                <a:solidFill>
                  <a:srgbClr val="0F3133"/>
                </a:solidFill>
                <a:latin typeface="IBM Plex Sans" pitchFamily="34" charset="0"/>
                <a:ea typeface="IBM Plex Sans" pitchFamily="34" charset="-122"/>
                <a:cs typeface="IBM Plex Sans" pitchFamily="34" charset="-120"/>
              </a:rPr>
              <a:t>Import a team pack</a:t>
            </a:r>
            <a:endParaRPr lang="en-US" sz="2175" dirty="0"/>
          </a:p>
        </p:txBody>
      </p:sp>
      <p:sp>
        <p:nvSpPr>
          <p:cNvPr id="23" name="Text 21"/>
          <p:cNvSpPr/>
          <p:nvPr/>
        </p:nvSpPr>
        <p:spPr>
          <a:xfrm>
            <a:off x="13554075" y="5742533"/>
            <a:ext cx="3571113" cy="1038225"/>
          </a:xfrm>
          <a:prstGeom prst="rect">
            <a:avLst/>
          </a:prstGeom>
          <a:noFill/>
          <a:ln/>
        </p:spPr>
        <p:txBody>
          <a:bodyPr wrap="square" lIns="25400" tIns="25400" rIns="25400" bIns="25400" rtlCol="0" anchor="t">
            <a:normAutofit/>
          </a:bodyPr>
          <a:lstStyle/>
          <a:p>
            <a:pPr algn="l" indent="0" marL="0">
              <a:lnSpc>
                <a:spcPct val="107692"/>
              </a:lnSpc>
              <a:buNone/>
            </a:pPr>
            <a:r>
              <a:rPr lang="en-US" sz="1875" dirty="0">
                <a:solidFill>
                  <a:srgbClr val="5B7178"/>
                </a:solidFill>
                <a:latin typeface="IBM Plex Sans" pitchFamily="34" charset="0"/>
                <a:ea typeface="IBM Plex Sans" pitchFamily="34" charset="-122"/>
                <a:cs typeface="IBM Plex Sans" pitchFamily="34" charset="-120"/>
              </a:rPr>
              <a:t>One JSON file of epic and JQL presets, merged or replaced. Nobody starts from scratch.</a:t>
            </a:r>
            <a:endParaRPr lang="en-US" sz="1875" dirty="0"/>
          </a:p>
        </p:txBody>
      </p:sp>
      <p:sp>
        <p:nvSpPr>
          <p:cNvPr id="24" name="Text 22"/>
          <p:cNvSpPr/>
          <p:nvPr/>
        </p:nvSpPr>
        <p:spPr>
          <a:xfrm>
            <a:off x="952500" y="8323511"/>
            <a:ext cx="8221408" cy="1239589"/>
          </a:xfrm>
          <a:prstGeom prst="rect">
            <a:avLst/>
          </a:prstGeom>
          <a:noFill/>
          <a:ln/>
        </p:spPr>
        <p:txBody>
          <a:bodyPr wrap="square" lIns="25400" tIns="25400" rIns="25400" bIns="25400" rtlCol="0" anchor="t">
            <a:normAutofit/>
          </a:bodyPr>
          <a:lstStyle/>
          <a:p>
            <a:pPr algn="l" indent="0" marL="0">
              <a:lnSpc>
                <a:spcPct val="112133"/>
              </a:lnSpc>
              <a:buNone/>
            </a:pPr>
            <a:r>
              <a:rPr lang="en-US" sz="2175" dirty="0">
                <a:solidFill>
                  <a:srgbClr val="0F3133"/>
                </a:solidFill>
                <a:latin typeface="IBM Plex Sans" pitchFamily="34" charset="0"/>
                <a:ea typeface="IBM Plex Sans" pitchFamily="34" charset="-122"/>
                <a:cs typeface="IBM Plex Sans" pitchFamily="34" charset="-120"/>
              </a:rPr>
              <a:t>Credentials, notes, priorities, snapshots, and the report archive stay in local files on your machine — only status changes and pushed comments go to Jira.</a:t>
            </a:r>
            <a:endParaRPr lang="en-US" sz="2175" dirty="0"/>
          </a:p>
        </p:txBody>
      </p:sp>
      <p:sp>
        <p:nvSpPr>
          <p:cNvPr id="25" name="Text 23"/>
          <p:cNvSpPr/>
          <p:nvPr/>
        </p:nvSpPr>
        <p:spPr>
          <a:xfrm>
            <a:off x="9353550" y="8323511"/>
            <a:ext cx="8221408" cy="839093"/>
          </a:xfrm>
          <a:prstGeom prst="rect">
            <a:avLst/>
          </a:prstGeom>
          <a:noFill/>
          <a:ln/>
        </p:spPr>
        <p:txBody>
          <a:bodyPr wrap="square" lIns="25400" tIns="25400" rIns="25400" bIns="25400" rtlCol="0" anchor="t">
            <a:normAutofit/>
          </a:bodyPr>
          <a:lstStyle/>
          <a:p>
            <a:pPr algn="l" indent="0" marL="0">
              <a:lnSpc>
                <a:spcPct val="112133"/>
              </a:lnSpc>
              <a:buNone/>
            </a:pPr>
            <a:r>
              <a:rPr lang="en-US" sz="2175" dirty="0">
                <a:solidFill>
                  <a:srgbClr val="5B7178"/>
                </a:solidFill>
                <a:latin typeface="IBM Plex Sans" pitchFamily="34" charset="0"/>
                <a:ea typeface="IBM Plex Sans" pitchFamily="34" charset="-122"/>
                <a:cs typeface="IBM Plex Sans" pitchFamily="34" charset="-120"/>
              </a:rPr>
              <a:t>Prefer Chrome or Edge for Install as app — the dialog shows the Task Manager name and icon, not localhost.</a:t>
            </a:r>
            <a:endParaRPr lang="en-US" sz="21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076EA4">
                  <a:alpha val="100000"/>
                </a:srgbClr>
              </a:gs>
              <a:gs pos="100000">
                <a:srgbClr val="0F3133">
                  <a:alpha val="100000"/>
                </a:srgbClr>
              </a:gs>
            </a:gsLst>
            <a:lin ang="2700000" scaled="0"/>
          </a:gradFill>
          <a:ln/>
        </p:spPr>
      </p:sp>
      <p:sp>
        <p:nvSpPr>
          <p:cNvPr id="3" name="Text 1"/>
          <p:cNvSpPr/>
          <p:nvPr/>
        </p:nvSpPr>
        <p:spPr>
          <a:xfrm>
            <a:off x="952500" y="952500"/>
            <a:ext cx="18021300" cy="828675"/>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FFFFFF"/>
                </a:solidFill>
                <a:latin typeface="IBM Plex Sans" pitchFamily="34" charset="0"/>
                <a:ea typeface="IBM Plex Sans" pitchFamily="34" charset="-122"/>
                <a:cs typeface="IBM Plex Sans" pitchFamily="34" charset="-120"/>
              </a:rPr>
              <a:t>Rollout</a:t>
            </a:r>
            <a:endParaRPr lang="en-US" sz="4800" dirty="0"/>
          </a:p>
        </p:txBody>
      </p:sp>
      <p:sp>
        <p:nvSpPr>
          <p:cNvPr id="4" name="Text 2"/>
          <p:cNvSpPr/>
          <p:nvPr/>
        </p:nvSpPr>
        <p:spPr>
          <a:xfrm>
            <a:off x="952500" y="1971675"/>
            <a:ext cx="14716125" cy="1127671"/>
          </a:xfrm>
          <a:prstGeom prst="rect">
            <a:avLst/>
          </a:prstGeom>
          <a:noFill/>
          <a:ln/>
        </p:spPr>
        <p:txBody>
          <a:bodyPr wrap="square" lIns="25400" tIns="25400" rIns="25400" bIns="25400" rtlCol="0" anchor="t">
            <a:normAutofit/>
          </a:bodyPr>
          <a:lstStyle/>
          <a:p>
            <a:pPr algn="l" indent="0" marL="0">
              <a:lnSpc>
                <a:spcPct val="100351"/>
              </a:lnSpc>
              <a:buNone/>
            </a:pPr>
            <a:r>
              <a:rPr lang="en-US" sz="3300" dirty="0">
                <a:solidFill>
                  <a:srgbClr val="FFFFFF"/>
                </a:solidFill>
                <a:latin typeface="IBM Plex Sans" pitchFamily="34" charset="0"/>
                <a:ea typeface="IBM Plex Sans" pitchFamily="34" charset="-122"/>
                <a:cs typeface="IBM Plex Sans" pitchFamily="34" charset="-120"/>
              </a:rPr>
              <a:t>The app is in daily use by one person. The ask is approval to hand it to the team — and your read on what is missing.</a:t>
            </a:r>
            <a:endParaRPr lang="en-US" sz="3300" dirty="0"/>
          </a:p>
        </p:txBody>
      </p:sp>
      <p:sp>
        <p:nvSpPr>
          <p:cNvPr id="5" name="Shape 3"/>
          <p:cNvSpPr/>
          <p:nvPr/>
        </p:nvSpPr>
        <p:spPr>
          <a:xfrm>
            <a:off x="952500" y="4984477"/>
            <a:ext cx="5181600" cy="19050"/>
          </a:xfrm>
          <a:prstGeom prst="rect">
            <a:avLst/>
          </a:prstGeom>
          <a:solidFill>
            <a:srgbClr val="FDD219"/>
          </a:solidFill>
          <a:ln/>
        </p:spPr>
      </p:sp>
      <p:sp>
        <p:nvSpPr>
          <p:cNvPr id="6" name="Text 4"/>
          <p:cNvSpPr/>
          <p:nvPr/>
        </p:nvSpPr>
        <p:spPr>
          <a:xfrm>
            <a:off x="952500" y="5289277"/>
            <a:ext cx="5699760" cy="438150"/>
          </a:xfrm>
          <a:prstGeom prst="rect">
            <a:avLst/>
          </a:prstGeom>
          <a:noFill/>
          <a:ln/>
        </p:spPr>
        <p:txBody>
          <a:bodyPr wrap="square" lIns="25400" tIns="25400" rIns="25400" bIns="25400" rtlCol="0" anchor="t">
            <a:normAutofit/>
          </a:bodyPr>
          <a:lstStyle/>
          <a:p>
            <a:pPr algn="l" indent="0" marL="0">
              <a:buNone/>
            </a:pPr>
            <a:r>
              <a:rPr lang="en-US" sz="2400" b="1" dirty="0">
                <a:solidFill>
                  <a:srgbClr val="FFFFFF"/>
                </a:solidFill>
                <a:latin typeface="IBM Plex Sans" pitchFamily="34" charset="0"/>
                <a:ea typeface="IBM Plex Sans" pitchFamily="34" charset="-122"/>
                <a:cs typeface="IBM Plex Sans" pitchFamily="34" charset="-120"/>
              </a:rPr>
              <a:t>Pilot users</a:t>
            </a:r>
            <a:endParaRPr lang="en-US" sz="2400" dirty="0"/>
          </a:p>
        </p:txBody>
      </p:sp>
      <p:sp>
        <p:nvSpPr>
          <p:cNvPr id="7" name="Text 5"/>
          <p:cNvSpPr/>
          <p:nvPr/>
        </p:nvSpPr>
        <p:spPr>
          <a:xfrm>
            <a:off x="952500" y="5822677"/>
            <a:ext cx="5337048" cy="756196"/>
          </a:xfrm>
          <a:prstGeom prst="rect">
            <a:avLst/>
          </a:prstGeom>
          <a:noFill/>
          <a:ln/>
        </p:spPr>
        <p:txBody>
          <a:bodyPr wrap="square" lIns="25400" tIns="25400" rIns="25400" bIns="25400" rtlCol="0" anchor="t">
            <a:normAutofit/>
          </a:bodyPr>
          <a:lstStyle/>
          <a:p>
            <a:pPr algn="l" indent="0" marL="0">
              <a:lnSpc>
                <a:spcPct val="112537"/>
              </a:lnSpc>
              <a:buNone/>
            </a:pPr>
            <a:r>
              <a:rPr lang="en-US" sz="1950" dirty="0">
                <a:solidFill>
                  <a:srgbClr val="FFFFFF">
                    <a:alpha val="82000"/>
                  </a:srgbClr>
                </a:solidFill>
                <a:latin typeface="IBM Plex Sans" pitchFamily="34" charset="0"/>
                <a:ea typeface="IBM Plex Sans" pitchFamily="34" charset="-122"/>
                <a:cs typeface="IBM Plex Sans" pitchFamily="34" charset="-120"/>
              </a:rPr>
              <a:t>Who installs it first, and which project they run it against.</a:t>
            </a:r>
            <a:endParaRPr lang="en-US" sz="1950" dirty="0"/>
          </a:p>
        </p:txBody>
      </p:sp>
      <p:sp>
        <p:nvSpPr>
          <p:cNvPr id="8" name="Shape 6"/>
          <p:cNvSpPr/>
          <p:nvPr/>
        </p:nvSpPr>
        <p:spPr>
          <a:xfrm>
            <a:off x="6553200" y="4984477"/>
            <a:ext cx="5181600" cy="19050"/>
          </a:xfrm>
          <a:prstGeom prst="rect">
            <a:avLst/>
          </a:prstGeom>
          <a:solidFill>
            <a:srgbClr val="FDD219"/>
          </a:solidFill>
          <a:ln/>
        </p:spPr>
      </p:sp>
      <p:sp>
        <p:nvSpPr>
          <p:cNvPr id="9" name="Text 7"/>
          <p:cNvSpPr/>
          <p:nvPr/>
        </p:nvSpPr>
        <p:spPr>
          <a:xfrm>
            <a:off x="6553200" y="5289277"/>
            <a:ext cx="5699760" cy="438150"/>
          </a:xfrm>
          <a:prstGeom prst="rect">
            <a:avLst/>
          </a:prstGeom>
          <a:noFill/>
          <a:ln/>
        </p:spPr>
        <p:txBody>
          <a:bodyPr wrap="square" lIns="25400" tIns="25400" rIns="25400" bIns="25400" rtlCol="0" anchor="t">
            <a:normAutofit/>
          </a:bodyPr>
          <a:lstStyle/>
          <a:p>
            <a:pPr algn="l" indent="0" marL="0">
              <a:buNone/>
            </a:pPr>
            <a:r>
              <a:rPr lang="en-US" sz="2400" b="1" dirty="0">
                <a:solidFill>
                  <a:srgbClr val="FFFFFF"/>
                </a:solidFill>
                <a:latin typeface="IBM Plex Sans" pitchFamily="34" charset="0"/>
                <a:ea typeface="IBM Plex Sans" pitchFamily="34" charset="-122"/>
                <a:cs typeface="IBM Plex Sans" pitchFamily="34" charset="-120"/>
              </a:rPr>
              <a:t>Canonical presets</a:t>
            </a:r>
            <a:endParaRPr lang="en-US" sz="2400" dirty="0"/>
          </a:p>
        </p:txBody>
      </p:sp>
      <p:sp>
        <p:nvSpPr>
          <p:cNvPr id="10" name="Text 8"/>
          <p:cNvSpPr/>
          <p:nvPr/>
        </p:nvSpPr>
        <p:spPr>
          <a:xfrm>
            <a:off x="6553200" y="5822677"/>
            <a:ext cx="5337048" cy="756196"/>
          </a:xfrm>
          <a:prstGeom prst="rect">
            <a:avLst/>
          </a:prstGeom>
          <a:noFill/>
          <a:ln/>
        </p:spPr>
        <p:txBody>
          <a:bodyPr wrap="square" lIns="25400" tIns="25400" rIns="25400" bIns="25400" rtlCol="0" anchor="t">
            <a:normAutofit/>
          </a:bodyPr>
          <a:lstStyle/>
          <a:p>
            <a:pPr algn="l" indent="0" marL="0">
              <a:lnSpc>
                <a:spcPct val="112537"/>
              </a:lnSpc>
              <a:buNone/>
            </a:pPr>
            <a:r>
              <a:rPr lang="en-US" sz="1950" dirty="0">
                <a:solidFill>
                  <a:srgbClr val="FFFFFF">
                    <a:alpha val="82000"/>
                  </a:srgbClr>
                </a:solidFill>
                <a:latin typeface="IBM Plex Sans" pitchFamily="34" charset="0"/>
                <a:ea typeface="IBM Plex Sans" pitchFamily="34" charset="-122"/>
                <a:cs typeface="IBM Plex Sans" pitchFamily="34" charset="-120"/>
              </a:rPr>
              <a:t>The epic and JQL list everyone should start from, shipped as one team pack.</a:t>
            </a:r>
            <a:endParaRPr lang="en-US" sz="1950" dirty="0"/>
          </a:p>
        </p:txBody>
      </p:sp>
      <p:sp>
        <p:nvSpPr>
          <p:cNvPr id="11" name="Shape 9"/>
          <p:cNvSpPr/>
          <p:nvPr/>
        </p:nvSpPr>
        <p:spPr>
          <a:xfrm>
            <a:off x="12153900" y="4984477"/>
            <a:ext cx="5181600" cy="19050"/>
          </a:xfrm>
          <a:prstGeom prst="rect">
            <a:avLst/>
          </a:prstGeom>
          <a:solidFill>
            <a:srgbClr val="FDD219"/>
          </a:solidFill>
          <a:ln/>
        </p:spPr>
      </p:sp>
      <p:sp>
        <p:nvSpPr>
          <p:cNvPr id="12" name="Text 10"/>
          <p:cNvSpPr/>
          <p:nvPr/>
        </p:nvSpPr>
        <p:spPr>
          <a:xfrm>
            <a:off x="12153900" y="5289277"/>
            <a:ext cx="5699760" cy="438150"/>
          </a:xfrm>
          <a:prstGeom prst="rect">
            <a:avLst/>
          </a:prstGeom>
          <a:noFill/>
          <a:ln/>
        </p:spPr>
        <p:txBody>
          <a:bodyPr wrap="square" lIns="25400" tIns="25400" rIns="25400" bIns="25400" rtlCol="0" anchor="t">
            <a:normAutofit/>
          </a:bodyPr>
          <a:lstStyle/>
          <a:p>
            <a:pPr algn="l" indent="0" marL="0">
              <a:buNone/>
            </a:pPr>
            <a:r>
              <a:rPr lang="en-US" sz="2400" b="1" dirty="0">
                <a:solidFill>
                  <a:srgbClr val="FFFFFF"/>
                </a:solidFill>
                <a:latin typeface="IBM Plex Sans" pitchFamily="34" charset="0"/>
                <a:ea typeface="IBM Plex Sans" pitchFamily="34" charset="-122"/>
                <a:cs typeface="IBM Plex Sans" pitchFamily="34" charset="-120"/>
              </a:rPr>
              <a:t>Shared priority</a:t>
            </a:r>
            <a:endParaRPr lang="en-US" sz="2400" dirty="0"/>
          </a:p>
        </p:txBody>
      </p:sp>
      <p:sp>
        <p:nvSpPr>
          <p:cNvPr id="13" name="Text 11"/>
          <p:cNvSpPr/>
          <p:nvPr/>
        </p:nvSpPr>
        <p:spPr>
          <a:xfrm>
            <a:off x="12153900" y="5822677"/>
            <a:ext cx="5337048" cy="1474291"/>
          </a:xfrm>
          <a:prstGeom prst="rect">
            <a:avLst/>
          </a:prstGeom>
          <a:noFill/>
          <a:ln/>
        </p:spPr>
        <p:txBody>
          <a:bodyPr wrap="square" lIns="25400" tIns="25400" rIns="25400" bIns="25400" rtlCol="0" anchor="t">
            <a:normAutofit/>
          </a:bodyPr>
          <a:lstStyle/>
          <a:p>
            <a:pPr algn="l" indent="0" marL="0">
              <a:lnSpc>
                <a:spcPct val="112537"/>
              </a:lnSpc>
              <a:buNone/>
            </a:pPr>
            <a:r>
              <a:rPr lang="en-US" sz="1950" dirty="0">
                <a:solidFill>
                  <a:srgbClr val="FFFFFF">
                    <a:alpha val="82000"/>
                  </a:srgbClr>
                </a:solidFill>
                <a:latin typeface="IBM Plex Sans" pitchFamily="34" charset="0"/>
                <a:ea typeface="IBM Plex Sans" pitchFamily="34" charset="-122"/>
                <a:cs typeface="IBM Plex Sans" pitchFamily="34" charset="-120"/>
              </a:rPr>
              <a:t>Runs on an Atlas demo today. A production database and API for team-wide priority still need to be decided and built before this scales past the pilot.</a:t>
            </a:r>
            <a:endParaRPr lang="en-US" sz="1950" dirty="0"/>
          </a:p>
        </p:txBody>
      </p:sp>
      <p:sp>
        <p:nvSpPr>
          <p:cNvPr id="14" name="Shape 12"/>
          <p:cNvSpPr/>
          <p:nvPr/>
        </p:nvSpPr>
        <p:spPr>
          <a:xfrm>
            <a:off x="952500" y="9286875"/>
            <a:ext cx="133350" cy="133350"/>
          </a:xfrm>
          <a:prstGeom prst="rect">
            <a:avLst/>
          </a:prstGeom>
          <a:solidFill>
            <a:srgbClr val="FDD219"/>
          </a:solidFill>
          <a:ln/>
        </p:spPr>
      </p:sp>
      <p:sp>
        <p:nvSpPr>
          <p:cNvPr id="15" name="Text 13"/>
          <p:cNvSpPr/>
          <p:nvPr/>
        </p:nvSpPr>
        <p:spPr>
          <a:xfrm>
            <a:off x="1257300" y="9182100"/>
            <a:ext cx="5707291" cy="38100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IBM Plex Sans" pitchFamily="34" charset="0"/>
                <a:ea typeface="IBM Plex Sans" pitchFamily="34" charset="-122"/>
                <a:cs typeface="IBM Plex Sans" pitchFamily="34" charset="-120"/>
              </a:rPr>
              <a:t>Feedback welcome on anything in this deck</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2026-08-18T17:09:28Z</dcterms:created>
  <dcterms:modified xsi:type="dcterms:W3CDTF">2026-08-18T17:09:28Z</dcterms:modified>
</cp:coreProperties>
</file>